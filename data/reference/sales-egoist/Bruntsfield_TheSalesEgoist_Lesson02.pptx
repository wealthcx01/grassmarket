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two. Selling tools are not interchangeable and you are not meant to be a generalist. This lesson is about defining the single weapon you will be known for — and the formula for how it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moved from the foundation into defining individual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awakening for this lesson: being well-rounded feels safe but makes you replaceable. The remedy is not to do more — it is to choose one strike and own it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progression is the whole lesson. Most sellers stop at ‘tool’ — they know several methods. The egoist names one as their weapon and writes the formula: the exact conditions under which it reliably produces an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principal weapons in capital-markets tech. Relationship converts trust into political leverage; Challenger lands a quantified, hard-to-counter insight; the vibe-coded demo creates instant, tailored buy-in. The seller chooses one as their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behind the weapon. Capital-markets buyers — CTOs, risk, compliance — are professional sceptics. A weapon that can't survive their inspection backfires. The fidelity gap is the rep's responsibility to close before deploying the strike.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the selection. The three prompts move the seller from ‘I use several methods’ to ‘this is my weapon, this is its formula, this is who it beats.’ The closing line is the 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exercise converts the idea into a written, testable formula and a single live attempt. Recording the result is what turns a one-off into a refinable system — which is the subject of Lesson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depth beats breadth. Master one weapon to the point of being undeniable. Tee up lesson three — making it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640080" y="777240"/>
            <a:ext cx="7315200" cy="274320"/>
          </a:xfrm>
          <a:prstGeom prst="rect">
            <a:avLst/>
          </a:prstGeom>
          <a:noFill/>
          <a:ln/>
        </p:spPr>
        <p:txBody>
          <a:bodyPr wrap="square" lIns="0" tIns="0" rIns="0" bIns="0" rtlCol="0" anchor="ctr"/>
          <a:lstStyle/>
          <a:p>
            <a:pPr indent="0" marL="0">
              <a:buNone/>
            </a:pPr>
            <a:r>
              <a:rPr lang="en-US" sz="1100" b="1" spc="300" kern="0" dirty="0">
                <a:solidFill>
                  <a:srgbClr val="8F7647"/>
                </a:solidFill>
                <a:latin typeface="Calibri" pitchFamily="34" charset="0"/>
                <a:ea typeface="Calibri" pitchFamily="34" charset="-122"/>
                <a:cs typeface="Calibri" pitchFamily="34" charset="-120"/>
              </a:rPr>
              <a:t>BRUNTSFIELD CAPITAL  ·  ADVISORY</a:t>
            </a:r>
            <a:endParaRPr lang="en-US" sz="1100" dirty="0"/>
          </a:p>
        </p:txBody>
      </p:sp>
      <p:sp>
        <p:nvSpPr>
          <p:cNvPr id="3" name="Text 1"/>
          <p:cNvSpPr/>
          <p:nvPr/>
        </p:nvSpPr>
        <p:spPr>
          <a:xfrm>
            <a:off x="640080" y="1097280"/>
            <a:ext cx="8229600" cy="457200"/>
          </a:xfrm>
          <a:prstGeom prst="rect">
            <a:avLst/>
          </a:prstGeom>
          <a:noFill/>
          <a:ln/>
        </p:spPr>
        <p:txBody>
          <a:bodyPr wrap="square" lIns="0" tIns="0" rIns="0" bIns="0" rtlCol="0" anchor="ctr"/>
          <a:lstStyle/>
          <a:p>
            <a:pPr indent="0" marL="0">
              <a:buNone/>
            </a:pPr>
            <a:r>
              <a:rPr lang="en-US" sz="1500" b="1" spc="500" kern="0" dirty="0">
                <a:solidFill>
                  <a:srgbClr val="1C3A52"/>
                </a:solidFill>
                <a:latin typeface="Calibri" pitchFamily="34" charset="0"/>
                <a:ea typeface="Calibri" pitchFamily="34" charset="-122"/>
                <a:cs typeface="Calibri" pitchFamily="34" charset="-120"/>
              </a:rPr>
              <a:t>THE SALES EGOIST</a:t>
            </a:r>
            <a:endParaRPr lang="en-US" sz="1500" dirty="0"/>
          </a:p>
        </p:txBody>
      </p:sp>
      <p:sp>
        <p:nvSpPr>
          <p:cNvPr id="4" name="Text 2"/>
          <p:cNvSpPr/>
          <p:nvPr/>
        </p:nvSpPr>
        <p:spPr>
          <a:xfrm>
            <a:off x="640080" y="1828800"/>
            <a:ext cx="8595360" cy="2286000"/>
          </a:xfrm>
          <a:prstGeom prst="rect">
            <a:avLst/>
          </a:prstGeom>
          <a:noFill/>
          <a:ln/>
        </p:spPr>
        <p:txBody>
          <a:bodyPr wrap="square" lIns="0" tIns="0" rIns="0" bIns="0" rtlCol="0" anchor="ctr"/>
          <a:lstStyle/>
          <a:p>
            <a:pPr indent="0" marL="0">
              <a:lnSpc>
                <a:spcPct val="98000"/>
              </a:lnSpc>
              <a:buNone/>
            </a:pPr>
            <a:r>
              <a:rPr lang="en-US" sz="7200" b="1" dirty="0">
                <a:solidFill>
                  <a:srgbClr val="1A1A17"/>
                </a:solidFill>
                <a:latin typeface="Cambria" pitchFamily="34" charset="0"/>
                <a:ea typeface="Cambria" pitchFamily="34" charset="-122"/>
                <a:cs typeface="Cambria" pitchFamily="34" charset="-120"/>
              </a:rPr>
              <a:t>Your Unfair</a:t>
            </a:r>
            <a:endParaRPr lang="en-US" sz="7200" dirty="0"/>
          </a:p>
          <a:p>
            <a:pPr indent="0" marL="0">
              <a:lnSpc>
                <a:spcPct val="98000"/>
              </a:lnSpc>
              <a:buNone/>
            </a:pPr>
            <a:r>
              <a:rPr lang="en-US" sz="7200" b="1" dirty="0">
                <a:solidFill>
                  <a:srgbClr val="1A1A17"/>
                </a:solidFill>
                <a:latin typeface="Cambria" pitchFamily="34" charset="0"/>
                <a:ea typeface="Cambria" pitchFamily="34" charset="-122"/>
                <a:cs typeface="Cambria" pitchFamily="34" charset="-120"/>
              </a:rPr>
              <a:t>Advantage</a:t>
            </a:r>
            <a:endParaRPr lang="en-US" sz="7200" dirty="0"/>
          </a:p>
        </p:txBody>
      </p:sp>
      <p:sp>
        <p:nvSpPr>
          <p:cNvPr id="5" name="Text 3"/>
          <p:cNvSpPr/>
          <p:nvPr/>
        </p:nvSpPr>
        <p:spPr>
          <a:xfrm>
            <a:off x="640080" y="4526280"/>
            <a:ext cx="7498080" cy="914400"/>
          </a:xfrm>
          <a:prstGeom prst="rect">
            <a:avLst/>
          </a:prstGeom>
          <a:noFill/>
          <a:ln/>
        </p:spPr>
        <p:txBody>
          <a:bodyPr wrap="square" lIns="0" tIns="0" rIns="0" bIns="0" rtlCol="0" anchor="ctr"/>
          <a:lstStyle/>
          <a:p>
            <a:pPr indent="0" marL="0">
              <a:lnSpc>
                <a:spcPct val="115000"/>
              </a:lnSpc>
              <a:buNone/>
            </a:pPr>
            <a:r>
              <a:rPr lang="en-US" sz="1600" b="1" dirty="0">
                <a:solidFill>
                  <a:srgbClr val="1C3A52"/>
                </a:solidFill>
                <a:latin typeface="Calibri" pitchFamily="34" charset="0"/>
                <a:ea typeface="Calibri" pitchFamily="34" charset="-122"/>
                <a:cs typeface="Calibri" pitchFamily="34" charset="-120"/>
              </a:rPr>
              <a:t>Lesson 02 of 08.  </a:t>
            </a:r>
            <a:pPr indent="0" marL="0">
              <a:lnSpc>
                <a:spcPct val="115000"/>
              </a:lnSpc>
              <a:buNone/>
            </a:pPr>
            <a:r>
              <a:rPr lang="en-US" sz="1600" dirty="0">
                <a:solidFill>
                  <a:srgbClr val="3E3B34"/>
                </a:solidFill>
                <a:latin typeface="Calibri" pitchFamily="34" charset="0"/>
                <a:ea typeface="Calibri" pitchFamily="34" charset="-122"/>
                <a:cs typeface="Calibri" pitchFamily="34" charset="-120"/>
              </a:rPr>
              <a:t>The one weapon that makes your value impossible to ignore.</a:t>
            </a:r>
            <a:endParaRPr lang="en-US" sz="1600" dirty="0"/>
          </a:p>
        </p:txBody>
      </p:sp>
      <p:sp>
        <p:nvSpPr>
          <p:cNvPr id="6" name="Shape 4"/>
          <p:cNvSpPr/>
          <p:nvPr/>
        </p:nvSpPr>
        <p:spPr>
          <a:xfrm>
            <a:off x="9509760" y="1828800"/>
            <a:ext cx="2286000" cy="2286000"/>
          </a:xfrm>
          <a:prstGeom prst="ellipse">
            <a:avLst/>
          </a:prstGeom>
          <a:solidFill>
            <a:srgbClr val="F4F1E9"/>
          </a:solidFill>
          <a:ln w="19050">
            <a:solidFill>
              <a:srgbClr val="D7D1C2"/>
            </a:solidFill>
            <a:prstDash val="solid"/>
          </a:ln>
        </p:spPr>
      </p:sp>
      <p:sp>
        <p:nvSpPr>
          <p:cNvPr id="7" name="Shape 5"/>
          <p:cNvSpPr/>
          <p:nvPr/>
        </p:nvSpPr>
        <p:spPr>
          <a:xfrm>
            <a:off x="9966960" y="2286000"/>
            <a:ext cx="1371600" cy="1371600"/>
          </a:xfrm>
          <a:prstGeom prst="ellipse">
            <a:avLst/>
          </a:prstGeom>
          <a:solidFill>
            <a:srgbClr val="F4F1E9"/>
          </a:solidFill>
          <a:ln w="19050">
            <a:solidFill>
              <a:srgbClr val="B0935E"/>
            </a:solidFill>
            <a:prstDash val="solid"/>
          </a:ln>
        </p:spPr>
      </p:sp>
      <p:pic>
        <p:nvPicPr>
          <p:cNvPr id="8" name="Image 0" descr="preencoded.png">    </p:cNvPr>
          <p:cNvPicPr>
            <a:picLocks noChangeAspect="1"/>
          </p:cNvPicPr>
          <p:nvPr/>
        </p:nvPicPr>
        <p:blipFill>
          <a:blip r:embed="rId1"/>
          <a:stretch>
            <a:fillRect/>
          </a:stretch>
        </p:blipFill>
        <p:spPr>
          <a:xfrm>
            <a:off x="10287000" y="2606040"/>
            <a:ext cx="731520" cy="731520"/>
          </a:xfrm>
          <a:prstGeom prst="rect">
            <a:avLst/>
          </a:prstGeom>
        </p:spPr>
      </p:pic>
      <p:sp>
        <p:nvSpPr>
          <p:cNvPr id="9" name="Text 6"/>
          <p:cNvSpPr/>
          <p:nvPr/>
        </p:nvSpPr>
        <p:spPr>
          <a:xfrm>
            <a:off x="8869680" y="4297680"/>
            <a:ext cx="3383280" cy="274320"/>
          </a:xfrm>
          <a:prstGeom prst="rect">
            <a:avLst/>
          </a:prstGeom>
          <a:noFill/>
          <a:ln/>
        </p:spPr>
        <p:txBody>
          <a:bodyPr wrap="square" lIns="0" tIns="0" rIns="0" bIns="0" rtlCol="0" anchor="ctr"/>
          <a:lstStyle/>
          <a:p>
            <a:pPr algn="ctr" indent="0" marL="0">
              <a:buNone/>
            </a:pPr>
            <a:r>
              <a:rPr lang="en-US" sz="1000" b="1" spc="200" kern="0" dirty="0">
                <a:solidFill>
                  <a:srgbClr val="7A756A"/>
                </a:solidFill>
                <a:latin typeface="Calibri" pitchFamily="34" charset="0"/>
                <a:ea typeface="Calibri" pitchFamily="34" charset="-122"/>
                <a:cs typeface="Calibri" pitchFamily="34" charset="-120"/>
              </a:rPr>
              <a:t>DEFINE YOUR WEAPON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1100" b="1" spc="300" kern="0" dirty="0">
                <a:solidFill>
                  <a:srgbClr val="8F7647"/>
                </a:solidFill>
                <a:latin typeface="Calibri" pitchFamily="34" charset="0"/>
                <a:ea typeface="Calibri" pitchFamily="34" charset="-122"/>
                <a:cs typeface="Calibri" pitchFamily="34" charset="-120"/>
              </a:rPr>
              <a:t>THE PROGRAMME</a:t>
            </a:r>
            <a:endParaRPr lang="en-US" sz="1100" dirty="0"/>
          </a:p>
        </p:txBody>
      </p:sp>
      <p:sp>
        <p:nvSpPr>
          <p:cNvPr id="3" name="Text 1"/>
          <p:cNvSpPr/>
          <p:nvPr/>
        </p:nvSpPr>
        <p:spPr>
          <a:xfrm>
            <a:off x="640080" y="822960"/>
            <a:ext cx="10058400" cy="731520"/>
          </a:xfrm>
          <a:prstGeom prst="rect">
            <a:avLst/>
          </a:prstGeom>
          <a:noFill/>
          <a:ln/>
        </p:spPr>
        <p:txBody>
          <a:bodyPr wrap="square" lIns="0" tIns="0" rIns="0" bIns="0" rtlCol="0" anchor="ctr"/>
          <a:lstStyle/>
          <a:p>
            <a:pPr indent="0" marL="0">
              <a:buNone/>
            </a:pPr>
            <a:r>
              <a:rPr lang="en-US" sz="3800" b="1" dirty="0">
                <a:solidFill>
                  <a:srgbClr val="1A1A17"/>
                </a:solidFill>
                <a:latin typeface="Cambria" pitchFamily="34" charset="0"/>
                <a:ea typeface="Cambria" pitchFamily="34" charset="-122"/>
                <a:cs typeface="Cambria" pitchFamily="34" charset="-120"/>
              </a:rPr>
              <a:t>Eight Selections</a:t>
            </a:r>
            <a:endParaRPr lang="en-US" sz="3800" dirty="0"/>
          </a:p>
        </p:txBody>
      </p:sp>
      <p:sp>
        <p:nvSpPr>
          <p:cNvPr id="4" name="Text 2"/>
          <p:cNvSpPr/>
          <p:nvPr/>
        </p:nvSpPr>
        <p:spPr>
          <a:xfrm>
            <a:off x="640080" y="1600200"/>
            <a:ext cx="10698480" cy="548640"/>
          </a:xfrm>
          <a:prstGeom prst="rect">
            <a:avLst/>
          </a:prstGeom>
          <a:noFill/>
          <a:ln/>
        </p:spPr>
        <p:txBody>
          <a:bodyPr wrap="square" lIns="0" tIns="0" rIns="0" bIns="0" rtlCol="0" anchor="ctr"/>
          <a:lstStyle/>
          <a:p>
            <a:pPr indent="0" marL="0">
              <a:buNone/>
            </a:pPr>
            <a:r>
              <a:rPr lang="en-US" sz="1500" dirty="0">
                <a:solidFill>
                  <a:srgbClr val="3E3B34"/>
                </a:solidFill>
                <a:latin typeface="Calibri" pitchFamily="34" charset="0"/>
                <a:ea typeface="Calibri" pitchFamily="34" charset="-122"/>
                <a:cs typeface="Calibri" pitchFamily="34" charset="-120"/>
              </a:rPr>
              <a:t>Each lesson takes one principle of self-authored selling and forges it into a repeatable discipline — then puts the full modern arsenal behind it.</a:t>
            </a:r>
            <a:endParaRPr lang="en-US" sz="1500" dirty="0"/>
          </a:p>
        </p:txBody>
      </p:sp>
      <p:sp>
        <p:nvSpPr>
          <p:cNvPr id="5" name="Text 3"/>
          <p:cNvSpPr/>
          <p:nvPr/>
        </p:nvSpPr>
        <p:spPr>
          <a:xfrm>
            <a:off x="640080" y="2423160"/>
            <a:ext cx="3657600" cy="274320"/>
          </a:xfrm>
          <a:prstGeom prst="rect">
            <a:avLst/>
          </a:prstGeom>
          <a:noFill/>
          <a:ln/>
        </p:spPr>
        <p:txBody>
          <a:bodyPr wrap="square" lIns="0" tIns="0" rIns="0" bIns="0" rtlCol="0" anchor="ctr"/>
          <a:lstStyle/>
          <a:p>
            <a:pPr indent="0" marL="0">
              <a:buNone/>
            </a:pPr>
            <a:r>
              <a:rPr lang="en-US" sz="1250" b="1" dirty="0">
                <a:solidFill>
                  <a:srgbClr val="1C3A52"/>
                </a:solidFill>
                <a:latin typeface="Calibri" pitchFamily="34" charset="0"/>
                <a:ea typeface="Calibri" pitchFamily="34" charset="-122"/>
                <a:cs typeface="Calibri" pitchFamily="34" charset="-120"/>
              </a:rPr>
              <a:t>Phase I — The First Selection</a:t>
            </a:r>
            <a:endParaRPr lang="en-US" sz="1250" dirty="0"/>
          </a:p>
        </p:txBody>
      </p:sp>
      <p:sp>
        <p:nvSpPr>
          <p:cNvPr id="6" name="Text 4"/>
          <p:cNvSpPr/>
          <p:nvPr/>
        </p:nvSpPr>
        <p:spPr>
          <a:xfrm>
            <a:off x="640080" y="2715768"/>
            <a:ext cx="3657600" cy="228600"/>
          </a:xfrm>
          <a:prstGeom prst="rect">
            <a:avLst/>
          </a:prstGeom>
          <a:noFill/>
          <a:ln/>
        </p:spPr>
        <p:txBody>
          <a:bodyPr wrap="square" lIns="0" tIns="0" rIns="0" bIns="0" rtlCol="0" anchor="ctr"/>
          <a:lstStyle/>
          <a:p>
            <a:pPr indent="0" marL="0">
              <a:buNone/>
            </a:pPr>
            <a:r>
              <a:rPr lang="en-US" sz="1050" i="1" dirty="0">
                <a:solidFill>
                  <a:srgbClr val="7A756A"/>
                </a:solidFill>
                <a:latin typeface="Calibri" pitchFamily="34" charset="0"/>
                <a:ea typeface="Calibri" pitchFamily="34" charset="-122"/>
                <a:cs typeface="Calibri" pitchFamily="34" charset="-120"/>
              </a:rPr>
              <a:t>Deconstruct the seller</a:t>
            </a:r>
            <a:endParaRPr lang="en-US" sz="1050" dirty="0"/>
          </a:p>
        </p:txBody>
      </p:sp>
      <p:sp>
        <p:nvSpPr>
          <p:cNvPr id="7" name="Shape 5"/>
          <p:cNvSpPr/>
          <p:nvPr/>
        </p:nvSpPr>
        <p:spPr>
          <a:xfrm>
            <a:off x="640080" y="3108960"/>
            <a:ext cx="3657600" cy="658368"/>
          </a:xfrm>
          <a:prstGeom prst="roundRect">
            <a:avLst>
              <a:gd name="adj" fmla="val 833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8" name="Text 6"/>
          <p:cNvSpPr/>
          <p:nvPr/>
        </p:nvSpPr>
        <p:spPr>
          <a:xfrm>
            <a:off x="777240" y="3108960"/>
            <a:ext cx="640080" cy="658368"/>
          </a:xfrm>
          <a:prstGeom prst="rect">
            <a:avLst/>
          </a:prstGeom>
          <a:noFill/>
          <a:ln/>
        </p:spPr>
        <p:txBody>
          <a:bodyPr wrap="square" lIns="0" tIns="0" rIns="0" bIns="0" rtlCol="0" anchor="ctr"/>
          <a:lstStyle/>
          <a:p>
            <a:pPr algn="ctr" indent="0" marL="0">
              <a:buNone/>
            </a:pPr>
            <a:r>
              <a:rPr lang="en-US" sz="2200" b="1" dirty="0">
                <a:solidFill>
                  <a:srgbClr val="8F7647"/>
                </a:solidFill>
                <a:latin typeface="Cambria" pitchFamily="34" charset="0"/>
                <a:ea typeface="Cambria" pitchFamily="34" charset="-122"/>
                <a:cs typeface="Cambria" pitchFamily="34" charset="-120"/>
              </a:rPr>
              <a:t>01</a:t>
            </a:r>
            <a:endParaRPr lang="en-US" sz="2200" dirty="0"/>
          </a:p>
        </p:txBody>
      </p:sp>
      <p:sp>
        <p:nvSpPr>
          <p:cNvPr id="9" name="Text 7"/>
          <p:cNvSpPr/>
          <p:nvPr/>
        </p:nvSpPr>
        <p:spPr>
          <a:xfrm>
            <a:off x="1417320" y="3108960"/>
            <a:ext cx="2743200" cy="65836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The Zero-Sum Pipeline</a:t>
            </a:r>
            <a:endParaRPr lang="en-US" sz="1250" dirty="0"/>
          </a:p>
        </p:txBody>
      </p:sp>
      <p:sp>
        <p:nvSpPr>
          <p:cNvPr id="10" name="Shape 8"/>
          <p:cNvSpPr/>
          <p:nvPr/>
        </p:nvSpPr>
        <p:spPr>
          <a:xfrm>
            <a:off x="640080" y="3950208"/>
            <a:ext cx="3657600" cy="658368"/>
          </a:xfrm>
          <a:prstGeom prst="roundRect">
            <a:avLst>
              <a:gd name="adj" fmla="val 8333"/>
            </a:avLst>
          </a:prstGeom>
          <a:solidFill>
            <a:srgbClr val="1C3A52"/>
          </a:solidFill>
          <a:ln w="12700">
            <a:solidFill>
              <a:srgbClr val="1C3A52"/>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777240" y="3950208"/>
            <a:ext cx="640080" cy="658368"/>
          </a:xfrm>
          <a:prstGeom prst="rect">
            <a:avLst/>
          </a:prstGeom>
          <a:noFill/>
          <a:ln/>
        </p:spPr>
        <p:txBody>
          <a:bodyPr wrap="square" lIns="0" tIns="0" rIns="0" bIns="0" rtlCol="0" anchor="ctr"/>
          <a:lstStyle/>
          <a:p>
            <a:pPr algn="ctr" indent="0" marL="0">
              <a:buNone/>
            </a:pPr>
            <a:r>
              <a:rPr lang="en-US" sz="2200" b="1" dirty="0">
                <a:solidFill>
                  <a:srgbClr val="B0935E"/>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1417320" y="3950208"/>
            <a:ext cx="2743200" cy="65836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Your Unfair Advantage</a:t>
            </a:r>
            <a:endParaRPr lang="en-US" sz="1250" dirty="0"/>
          </a:p>
        </p:txBody>
      </p:sp>
      <p:sp>
        <p:nvSpPr>
          <p:cNvPr id="13" name="Text 11"/>
          <p:cNvSpPr/>
          <p:nvPr/>
        </p:nvSpPr>
        <p:spPr>
          <a:xfrm>
            <a:off x="1417320" y="4370832"/>
            <a:ext cx="2743200" cy="182880"/>
          </a:xfrm>
          <a:prstGeom prst="rect">
            <a:avLst/>
          </a:prstGeom>
          <a:noFill/>
          <a:ln/>
        </p:spPr>
        <p:txBody>
          <a:bodyPr wrap="square" lIns="0" tIns="0" rIns="0" bIns="0" rtlCol="0" anchor="ctr"/>
          <a:lstStyle/>
          <a:p>
            <a:pPr indent="0" marL="0">
              <a:buNone/>
            </a:pPr>
            <a:r>
              <a:rPr lang="en-US" sz="800" b="1" spc="200" kern="0" dirty="0">
                <a:solidFill>
                  <a:srgbClr val="B0935E"/>
                </a:solidFill>
                <a:latin typeface="Calibri" pitchFamily="34" charset="0"/>
                <a:ea typeface="Calibri" pitchFamily="34" charset="-122"/>
                <a:cs typeface="Calibri" pitchFamily="34" charset="-120"/>
              </a:rPr>
              <a:t>YOU ARE HERE</a:t>
            </a:r>
            <a:endParaRPr lang="en-US" sz="800" dirty="0"/>
          </a:p>
        </p:txBody>
      </p:sp>
      <p:sp>
        <p:nvSpPr>
          <p:cNvPr id="14" name="Shape 12"/>
          <p:cNvSpPr/>
          <p:nvPr/>
        </p:nvSpPr>
        <p:spPr>
          <a:xfrm>
            <a:off x="640080" y="4791456"/>
            <a:ext cx="3657600" cy="658368"/>
          </a:xfrm>
          <a:prstGeom prst="roundRect">
            <a:avLst>
              <a:gd name="adj" fmla="val 833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15" name="Text 13"/>
          <p:cNvSpPr/>
          <p:nvPr/>
        </p:nvSpPr>
        <p:spPr>
          <a:xfrm>
            <a:off x="777240" y="4791456"/>
            <a:ext cx="640080" cy="658368"/>
          </a:xfrm>
          <a:prstGeom prst="rect">
            <a:avLst/>
          </a:prstGeom>
          <a:noFill/>
          <a:ln/>
        </p:spPr>
        <p:txBody>
          <a:bodyPr wrap="square" lIns="0" tIns="0" rIns="0" bIns="0" rtlCol="0" anchor="ctr"/>
          <a:lstStyle/>
          <a:p>
            <a:pPr algn="ctr" indent="0" marL="0">
              <a:buNone/>
            </a:pPr>
            <a:r>
              <a:rPr lang="en-US" sz="2200" b="1" dirty="0">
                <a:solidFill>
                  <a:srgbClr val="8F7647"/>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1417320" y="4791456"/>
            <a:ext cx="2743200" cy="65836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Formulaic Reproducibility</a:t>
            </a:r>
            <a:endParaRPr lang="en-US" sz="1250" dirty="0"/>
          </a:p>
        </p:txBody>
      </p:sp>
      <p:sp>
        <p:nvSpPr>
          <p:cNvPr id="17" name="Shape 15"/>
          <p:cNvSpPr/>
          <p:nvPr/>
        </p:nvSpPr>
        <p:spPr>
          <a:xfrm>
            <a:off x="640080" y="5632704"/>
            <a:ext cx="3657600" cy="658368"/>
          </a:xfrm>
          <a:prstGeom prst="roundRect">
            <a:avLst>
              <a:gd name="adj" fmla="val 833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18" name="Text 16"/>
          <p:cNvSpPr/>
          <p:nvPr/>
        </p:nvSpPr>
        <p:spPr>
          <a:xfrm>
            <a:off x="777240" y="5632704"/>
            <a:ext cx="640080" cy="658368"/>
          </a:xfrm>
          <a:prstGeom prst="rect">
            <a:avLst/>
          </a:prstGeom>
          <a:noFill/>
          <a:ln/>
        </p:spPr>
        <p:txBody>
          <a:bodyPr wrap="square" lIns="0" tIns="0" rIns="0" bIns="0" rtlCol="0" anchor="ctr"/>
          <a:lstStyle/>
          <a:p>
            <a:pPr algn="ctr" indent="0" marL="0">
              <a:buNone/>
            </a:pPr>
            <a:r>
              <a:rPr lang="en-US" sz="2200" b="1" dirty="0">
                <a:solidFill>
                  <a:srgbClr val="8F7647"/>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1417320" y="5632704"/>
            <a:ext cx="2743200" cy="65836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The Hardest Prospect</a:t>
            </a:r>
            <a:endParaRPr lang="en-US" sz="1250" dirty="0"/>
          </a:p>
        </p:txBody>
      </p:sp>
      <p:sp>
        <p:nvSpPr>
          <p:cNvPr id="20" name="Text 18"/>
          <p:cNvSpPr/>
          <p:nvPr/>
        </p:nvSpPr>
        <p:spPr>
          <a:xfrm>
            <a:off x="4572000" y="2423160"/>
            <a:ext cx="3657600" cy="274320"/>
          </a:xfrm>
          <a:prstGeom prst="rect">
            <a:avLst/>
          </a:prstGeom>
          <a:noFill/>
          <a:ln/>
        </p:spPr>
        <p:txBody>
          <a:bodyPr wrap="square" lIns="0" tIns="0" rIns="0" bIns="0" rtlCol="0" anchor="ctr"/>
          <a:lstStyle/>
          <a:p>
            <a:pPr indent="0" marL="0">
              <a:buNone/>
            </a:pPr>
            <a:r>
              <a:rPr lang="en-US" sz="1250" b="1" dirty="0">
                <a:solidFill>
                  <a:srgbClr val="1C3A52"/>
                </a:solidFill>
                <a:latin typeface="Calibri" pitchFamily="34" charset="0"/>
                <a:ea typeface="Calibri" pitchFamily="34" charset="-122"/>
                <a:cs typeface="Calibri" pitchFamily="34" charset="-120"/>
              </a:rPr>
              <a:t>Phase II — The Second Selection</a:t>
            </a:r>
            <a:endParaRPr lang="en-US" sz="1250" dirty="0"/>
          </a:p>
        </p:txBody>
      </p:sp>
      <p:sp>
        <p:nvSpPr>
          <p:cNvPr id="21" name="Text 19"/>
          <p:cNvSpPr/>
          <p:nvPr/>
        </p:nvSpPr>
        <p:spPr>
          <a:xfrm>
            <a:off x="4572000" y="2715768"/>
            <a:ext cx="3657600" cy="228600"/>
          </a:xfrm>
          <a:prstGeom prst="rect">
            <a:avLst/>
          </a:prstGeom>
          <a:noFill/>
          <a:ln/>
        </p:spPr>
        <p:txBody>
          <a:bodyPr wrap="square" lIns="0" tIns="0" rIns="0" bIns="0" rtlCol="0" anchor="ctr"/>
          <a:lstStyle/>
          <a:p>
            <a:pPr indent="0" marL="0">
              <a:buNone/>
            </a:pPr>
            <a:r>
              <a:rPr lang="en-US" sz="1050" i="1" dirty="0">
                <a:solidFill>
                  <a:srgbClr val="7A756A"/>
                </a:solidFill>
                <a:latin typeface="Calibri" pitchFamily="34" charset="0"/>
                <a:ea typeface="Calibri" pitchFamily="34" charset="-122"/>
                <a:cs typeface="Calibri" pitchFamily="34" charset="-120"/>
              </a:rPr>
              <a:t>The logic of joint execution</a:t>
            </a:r>
            <a:endParaRPr lang="en-US" sz="1050" dirty="0"/>
          </a:p>
        </p:txBody>
      </p:sp>
      <p:sp>
        <p:nvSpPr>
          <p:cNvPr id="22" name="Shape 20"/>
          <p:cNvSpPr/>
          <p:nvPr/>
        </p:nvSpPr>
        <p:spPr>
          <a:xfrm>
            <a:off x="4572000" y="3108960"/>
            <a:ext cx="3657600" cy="658368"/>
          </a:xfrm>
          <a:prstGeom prst="roundRect">
            <a:avLst>
              <a:gd name="adj" fmla="val 833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23" name="Text 21"/>
          <p:cNvSpPr/>
          <p:nvPr/>
        </p:nvSpPr>
        <p:spPr>
          <a:xfrm>
            <a:off x="4709160" y="3108960"/>
            <a:ext cx="640080" cy="658368"/>
          </a:xfrm>
          <a:prstGeom prst="rect">
            <a:avLst/>
          </a:prstGeom>
          <a:noFill/>
          <a:ln/>
        </p:spPr>
        <p:txBody>
          <a:bodyPr wrap="square" lIns="0" tIns="0" rIns="0" bIns="0" rtlCol="0" anchor="ctr"/>
          <a:lstStyle/>
          <a:p>
            <a:pPr algn="ctr" indent="0" marL="0">
              <a:buNone/>
            </a:pPr>
            <a:r>
              <a:rPr lang="en-US" sz="2200" b="1" dirty="0">
                <a:solidFill>
                  <a:srgbClr val="8F7647"/>
                </a:solidFill>
                <a:latin typeface="Cambria" pitchFamily="34" charset="0"/>
                <a:ea typeface="Cambria" pitchFamily="34" charset="-122"/>
                <a:cs typeface="Cambria" pitchFamily="34" charset="-120"/>
              </a:rPr>
              <a:t>05</a:t>
            </a:r>
            <a:endParaRPr lang="en-US" sz="2200" dirty="0"/>
          </a:p>
        </p:txBody>
      </p:sp>
      <p:sp>
        <p:nvSpPr>
          <p:cNvPr id="24" name="Text 22"/>
          <p:cNvSpPr/>
          <p:nvPr/>
        </p:nvSpPr>
        <p:spPr>
          <a:xfrm>
            <a:off x="5349240" y="3108960"/>
            <a:ext cx="2743200" cy="65836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Multi-Thread the Committee</a:t>
            </a:r>
            <a:endParaRPr lang="en-US" sz="1250" dirty="0"/>
          </a:p>
        </p:txBody>
      </p:sp>
      <p:sp>
        <p:nvSpPr>
          <p:cNvPr id="25" name="Shape 23"/>
          <p:cNvSpPr/>
          <p:nvPr/>
        </p:nvSpPr>
        <p:spPr>
          <a:xfrm>
            <a:off x="4572000" y="3950208"/>
            <a:ext cx="3657600" cy="658368"/>
          </a:xfrm>
          <a:prstGeom prst="roundRect">
            <a:avLst>
              <a:gd name="adj" fmla="val 833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26" name="Text 24"/>
          <p:cNvSpPr/>
          <p:nvPr/>
        </p:nvSpPr>
        <p:spPr>
          <a:xfrm>
            <a:off x="4709160" y="3950208"/>
            <a:ext cx="640080" cy="658368"/>
          </a:xfrm>
          <a:prstGeom prst="rect">
            <a:avLst/>
          </a:prstGeom>
          <a:noFill/>
          <a:ln/>
        </p:spPr>
        <p:txBody>
          <a:bodyPr wrap="square" lIns="0" tIns="0" rIns="0" bIns="0" rtlCol="0" anchor="ctr"/>
          <a:lstStyle/>
          <a:p>
            <a:pPr algn="ctr" indent="0" marL="0">
              <a:buNone/>
            </a:pPr>
            <a:r>
              <a:rPr lang="en-US" sz="2200" b="1" dirty="0">
                <a:solidFill>
                  <a:srgbClr val="8F7647"/>
                </a:solidFill>
                <a:latin typeface="Cambria" pitchFamily="34" charset="0"/>
                <a:ea typeface="Cambria" pitchFamily="34" charset="-122"/>
                <a:cs typeface="Cambria" pitchFamily="34" charset="-120"/>
              </a:rPr>
              <a:t>06</a:t>
            </a:r>
            <a:endParaRPr lang="en-US" sz="2200" dirty="0"/>
          </a:p>
        </p:txBody>
      </p:sp>
      <p:sp>
        <p:nvSpPr>
          <p:cNvPr id="27" name="Text 25"/>
          <p:cNvSpPr/>
          <p:nvPr/>
        </p:nvSpPr>
        <p:spPr>
          <a:xfrm>
            <a:off x="5349240" y="3950208"/>
            <a:ext cx="2743200" cy="65836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Engineering Luck</a:t>
            </a:r>
            <a:endParaRPr lang="en-US" sz="1250" dirty="0"/>
          </a:p>
        </p:txBody>
      </p:sp>
      <p:sp>
        <p:nvSpPr>
          <p:cNvPr id="28" name="Text 26"/>
          <p:cNvSpPr/>
          <p:nvPr/>
        </p:nvSpPr>
        <p:spPr>
          <a:xfrm>
            <a:off x="8503920" y="2423160"/>
            <a:ext cx="3017520" cy="274320"/>
          </a:xfrm>
          <a:prstGeom prst="rect">
            <a:avLst/>
          </a:prstGeom>
          <a:noFill/>
          <a:ln/>
        </p:spPr>
        <p:txBody>
          <a:bodyPr wrap="square" lIns="0" tIns="0" rIns="0" bIns="0" rtlCol="0" anchor="ctr"/>
          <a:lstStyle/>
          <a:p>
            <a:pPr indent="0" marL="0">
              <a:buNone/>
            </a:pPr>
            <a:r>
              <a:rPr lang="en-US" sz="1250" b="1" dirty="0">
                <a:solidFill>
                  <a:srgbClr val="1C3A52"/>
                </a:solidFill>
                <a:latin typeface="Calibri" pitchFamily="34" charset="0"/>
                <a:ea typeface="Calibri" pitchFamily="34" charset="-122"/>
                <a:cs typeface="Calibri" pitchFamily="34" charset="-120"/>
              </a:rPr>
              <a:t>Phase III — The Peak</a:t>
            </a:r>
            <a:endParaRPr lang="en-US" sz="1250" dirty="0"/>
          </a:p>
        </p:txBody>
      </p:sp>
      <p:sp>
        <p:nvSpPr>
          <p:cNvPr id="29" name="Text 27"/>
          <p:cNvSpPr/>
          <p:nvPr/>
        </p:nvSpPr>
        <p:spPr>
          <a:xfrm>
            <a:off x="8503920" y="2715768"/>
            <a:ext cx="3017520" cy="228600"/>
          </a:xfrm>
          <a:prstGeom prst="rect">
            <a:avLst/>
          </a:prstGeom>
          <a:noFill/>
          <a:ln/>
        </p:spPr>
        <p:txBody>
          <a:bodyPr wrap="square" lIns="0" tIns="0" rIns="0" bIns="0" rtlCol="0" anchor="ctr"/>
          <a:lstStyle/>
          <a:p>
            <a:pPr indent="0" marL="0">
              <a:buNone/>
            </a:pPr>
            <a:r>
              <a:rPr lang="en-US" sz="1050" i="1" dirty="0">
                <a:solidFill>
                  <a:srgbClr val="7A756A"/>
                </a:solidFill>
                <a:latin typeface="Calibri" pitchFamily="34" charset="0"/>
                <a:ea typeface="Calibri" pitchFamily="34" charset="-122"/>
                <a:cs typeface="Calibri" pitchFamily="34" charset="-120"/>
              </a:rPr>
              <a:t>Elite sales psychology</a:t>
            </a:r>
            <a:endParaRPr lang="en-US" sz="1050" dirty="0"/>
          </a:p>
        </p:txBody>
      </p:sp>
      <p:sp>
        <p:nvSpPr>
          <p:cNvPr id="30" name="Shape 28"/>
          <p:cNvSpPr/>
          <p:nvPr/>
        </p:nvSpPr>
        <p:spPr>
          <a:xfrm>
            <a:off x="8503920" y="3108960"/>
            <a:ext cx="3017520" cy="658368"/>
          </a:xfrm>
          <a:prstGeom prst="roundRect">
            <a:avLst>
              <a:gd name="adj" fmla="val 833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31" name="Text 29"/>
          <p:cNvSpPr/>
          <p:nvPr/>
        </p:nvSpPr>
        <p:spPr>
          <a:xfrm>
            <a:off x="8641080" y="3108960"/>
            <a:ext cx="640080" cy="658368"/>
          </a:xfrm>
          <a:prstGeom prst="rect">
            <a:avLst/>
          </a:prstGeom>
          <a:noFill/>
          <a:ln/>
        </p:spPr>
        <p:txBody>
          <a:bodyPr wrap="square" lIns="0" tIns="0" rIns="0" bIns="0" rtlCol="0" anchor="ctr"/>
          <a:lstStyle/>
          <a:p>
            <a:pPr algn="ctr" indent="0" marL="0">
              <a:buNone/>
            </a:pPr>
            <a:r>
              <a:rPr lang="en-US" sz="2200" b="1" dirty="0">
                <a:solidFill>
                  <a:srgbClr val="8F7647"/>
                </a:solidFill>
                <a:latin typeface="Cambria" pitchFamily="34" charset="0"/>
                <a:ea typeface="Cambria" pitchFamily="34" charset="-122"/>
                <a:cs typeface="Cambria" pitchFamily="34" charset="-120"/>
              </a:rPr>
              <a:t>07</a:t>
            </a:r>
            <a:endParaRPr lang="en-US" sz="2200" dirty="0"/>
          </a:p>
        </p:txBody>
      </p:sp>
      <p:sp>
        <p:nvSpPr>
          <p:cNvPr id="32" name="Text 30"/>
          <p:cNvSpPr/>
          <p:nvPr/>
        </p:nvSpPr>
        <p:spPr>
          <a:xfrm>
            <a:off x="9281160" y="3108960"/>
            <a:ext cx="2103120" cy="65836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The Flow of Discovery</a:t>
            </a:r>
            <a:endParaRPr lang="en-US" sz="1250" dirty="0"/>
          </a:p>
        </p:txBody>
      </p:sp>
      <p:sp>
        <p:nvSpPr>
          <p:cNvPr id="33" name="Shape 31"/>
          <p:cNvSpPr/>
          <p:nvPr/>
        </p:nvSpPr>
        <p:spPr>
          <a:xfrm>
            <a:off x="8503920" y="3950208"/>
            <a:ext cx="3017520" cy="658368"/>
          </a:xfrm>
          <a:prstGeom prst="roundRect">
            <a:avLst>
              <a:gd name="adj" fmla="val 833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34" name="Text 32"/>
          <p:cNvSpPr/>
          <p:nvPr/>
        </p:nvSpPr>
        <p:spPr>
          <a:xfrm>
            <a:off x="8641080" y="3950208"/>
            <a:ext cx="640080" cy="658368"/>
          </a:xfrm>
          <a:prstGeom prst="rect">
            <a:avLst/>
          </a:prstGeom>
          <a:noFill/>
          <a:ln/>
        </p:spPr>
        <p:txBody>
          <a:bodyPr wrap="square" lIns="0" tIns="0" rIns="0" bIns="0" rtlCol="0" anchor="ctr"/>
          <a:lstStyle/>
          <a:p>
            <a:pPr algn="ctr" indent="0" marL="0">
              <a:buNone/>
            </a:pPr>
            <a:r>
              <a:rPr lang="en-US" sz="2200" b="1" dirty="0">
                <a:solidFill>
                  <a:srgbClr val="8F7647"/>
                </a:solidFill>
                <a:latin typeface="Cambria" pitchFamily="34" charset="0"/>
                <a:ea typeface="Cambria" pitchFamily="34" charset="-122"/>
                <a:cs typeface="Cambria" pitchFamily="34" charset="-120"/>
              </a:rPr>
              <a:t>08</a:t>
            </a:r>
            <a:endParaRPr lang="en-US" sz="2200" dirty="0"/>
          </a:p>
        </p:txBody>
      </p:sp>
      <p:sp>
        <p:nvSpPr>
          <p:cNvPr id="35" name="Text 33"/>
          <p:cNvSpPr/>
          <p:nvPr/>
        </p:nvSpPr>
        <p:spPr>
          <a:xfrm>
            <a:off x="9281160" y="3950208"/>
            <a:ext cx="2103120" cy="65836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Total Account Awareness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9"/>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13283A"/>
          </a:solidFill>
          <a:ln/>
        </p:spPr>
      </p:sp>
      <p:sp>
        <p:nvSpPr>
          <p:cNvPr id="3" name="Text 1"/>
          <p:cNvSpPr/>
          <p:nvPr/>
        </p:nvSpPr>
        <p:spPr>
          <a:xfrm>
            <a:off x="640080" y="868680"/>
            <a:ext cx="4114800" cy="274320"/>
          </a:xfrm>
          <a:prstGeom prst="rect">
            <a:avLst/>
          </a:prstGeom>
          <a:noFill/>
          <a:ln/>
        </p:spPr>
        <p:txBody>
          <a:bodyPr wrap="square" lIns="0" tIns="0" rIns="0" bIns="0" rtlCol="0" anchor="ctr"/>
          <a:lstStyle/>
          <a:p>
            <a:pPr indent="0" marL="0">
              <a:buNone/>
            </a:pPr>
            <a:r>
              <a:rPr lang="en-US" sz="1100" b="1" spc="300" kern="0" dirty="0">
                <a:solidFill>
                  <a:srgbClr val="B0935E"/>
                </a:solidFill>
                <a:latin typeface="Calibri" pitchFamily="34" charset="0"/>
                <a:ea typeface="Calibri" pitchFamily="34" charset="-122"/>
                <a:cs typeface="Calibri" pitchFamily="34" charset="-120"/>
              </a:rPr>
              <a:t>THE AWAKENING</a:t>
            </a:r>
            <a:endParaRPr lang="en-US" sz="1100" dirty="0"/>
          </a:p>
        </p:txBody>
      </p:sp>
      <p:sp>
        <p:nvSpPr>
          <p:cNvPr id="4" name="Text 2"/>
          <p:cNvSpPr/>
          <p:nvPr/>
        </p:nvSpPr>
        <p:spPr>
          <a:xfrm>
            <a:off x="640080" y="1371600"/>
            <a:ext cx="4023360" cy="274320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A generalist is forgettable.</a:t>
            </a:r>
            <a:endParaRPr lang="en-US" sz="4600" dirty="0"/>
          </a:p>
        </p:txBody>
      </p:sp>
      <p:pic>
        <p:nvPicPr>
          <p:cNvPr id="5" name="Image 0" descr="preencoded.png">    </p:cNvPr>
          <p:cNvPicPr>
            <a:picLocks noChangeAspect="1"/>
          </p:cNvPicPr>
          <p:nvPr/>
        </p:nvPicPr>
        <p:blipFill>
          <a:blip r:embed="rId1"/>
          <a:stretch>
            <a:fillRect/>
          </a:stretch>
        </p:blipFill>
        <p:spPr>
          <a:xfrm>
            <a:off x="640080" y="5486400"/>
            <a:ext cx="457200" cy="457200"/>
          </a:xfrm>
          <a:prstGeom prst="rect">
            <a:avLst/>
          </a:prstGeom>
        </p:spPr>
      </p:pic>
      <p:sp>
        <p:nvSpPr>
          <p:cNvPr id="6" name="Text 3"/>
          <p:cNvSpPr/>
          <p:nvPr/>
        </p:nvSpPr>
        <p:spPr>
          <a:xfrm>
            <a:off x="1207008" y="5513832"/>
            <a:ext cx="3383280" cy="411480"/>
          </a:xfrm>
          <a:prstGeom prst="rect">
            <a:avLst/>
          </a:prstGeom>
          <a:noFill/>
          <a:ln/>
        </p:spPr>
        <p:txBody>
          <a:bodyPr wrap="square" lIns="0" tIns="0" rIns="0" bIns="0" rtlCol="0" anchor="ctr"/>
          <a:lstStyle/>
          <a:p>
            <a:pPr indent="0" marL="0">
              <a:buNone/>
            </a:pPr>
            <a:r>
              <a:rPr lang="en-US" sz="1600" i="1" dirty="0">
                <a:solidFill>
                  <a:srgbClr val="B0935E"/>
                </a:solidFill>
                <a:latin typeface="Cambria" pitchFamily="34" charset="0"/>
                <a:ea typeface="Cambria" pitchFamily="34" charset="-122"/>
                <a:cs typeface="Cambria" pitchFamily="34" charset="-120"/>
              </a:rPr>
              <a:t>Self-authored selling.</a:t>
            </a:r>
            <a:endParaRPr lang="en-US" sz="1600" dirty="0"/>
          </a:p>
        </p:txBody>
      </p:sp>
      <p:sp>
        <p:nvSpPr>
          <p:cNvPr id="7" name="Text 4"/>
          <p:cNvSpPr/>
          <p:nvPr/>
        </p:nvSpPr>
        <p:spPr>
          <a:xfrm>
            <a:off x="5577840" y="1143000"/>
            <a:ext cx="5943600" cy="1371600"/>
          </a:xfrm>
          <a:prstGeom prst="rect">
            <a:avLst/>
          </a:prstGeom>
          <a:noFill/>
          <a:ln/>
        </p:spPr>
        <p:txBody>
          <a:bodyPr wrap="square" lIns="0" tIns="0" rIns="0" bIns="0" rtlCol="0" anchor="ctr"/>
          <a:lstStyle/>
          <a:p>
            <a:pPr indent="0" marL="0">
              <a:lnSpc>
                <a:spcPct val="125000"/>
              </a:lnSpc>
              <a:buNone/>
            </a:pPr>
            <a:r>
              <a:rPr lang="en-US" sz="1700" dirty="0">
                <a:solidFill>
                  <a:srgbClr val="3E3B34"/>
                </a:solidFill>
                <a:latin typeface="Calibri" pitchFamily="34" charset="0"/>
                <a:ea typeface="Calibri" pitchFamily="34" charset="-122"/>
                <a:cs typeface="Calibri" pitchFamily="34" charset="-120"/>
              </a:rPr>
              <a:t>You have spent years being competent at everything and decisive about nothing. Available, likeable, easy to deal with — these are table stakes, not weapons.</a:t>
            </a:r>
            <a:endParaRPr lang="en-US" sz="1700" dirty="0"/>
          </a:p>
        </p:txBody>
      </p:sp>
      <p:sp>
        <p:nvSpPr>
          <p:cNvPr id="8" name="Text 5"/>
          <p:cNvSpPr/>
          <p:nvPr/>
        </p:nvSpPr>
        <p:spPr>
          <a:xfrm>
            <a:off x="5577840" y="2743200"/>
            <a:ext cx="5943600" cy="1828800"/>
          </a:xfrm>
          <a:prstGeom prst="rect">
            <a:avLst/>
          </a:prstGeom>
          <a:noFill/>
          <a:ln/>
        </p:spPr>
        <p:txBody>
          <a:bodyPr wrap="square" lIns="0" tIns="0" rIns="0" bIns="0" rtlCol="0" anchor="ctr"/>
          <a:lstStyle/>
          <a:p>
            <a:pPr indent="0" marL="0">
              <a:lnSpc>
                <a:spcPct val="106000"/>
              </a:lnSpc>
              <a:buNone/>
            </a:pPr>
            <a:r>
              <a:rPr lang="en-US" sz="3000" i="1" dirty="0">
                <a:solidFill>
                  <a:srgbClr val="1A1A17"/>
                </a:solidFill>
                <a:latin typeface="Cambria" pitchFamily="34" charset="0"/>
                <a:ea typeface="Cambria" pitchFamily="34" charset="-122"/>
                <a:cs typeface="Cambria" pitchFamily="34" charset="-120"/>
              </a:rPr>
              <a:t>“The market never remembers the well-rounded. It remembers the seller who does one thing no one else can.”</a:t>
            </a:r>
            <a:endParaRPr lang="en-US" sz="3000" dirty="0"/>
          </a:p>
        </p:txBody>
      </p:sp>
      <p:sp>
        <p:nvSpPr>
          <p:cNvPr id="9" name="Text 6"/>
          <p:cNvSpPr/>
          <p:nvPr/>
        </p:nvSpPr>
        <p:spPr>
          <a:xfrm>
            <a:off x="5577840" y="5029200"/>
            <a:ext cx="5943600" cy="914400"/>
          </a:xfrm>
          <a:prstGeom prst="rect">
            <a:avLst/>
          </a:prstGeom>
          <a:noFill/>
          <a:ln/>
        </p:spPr>
        <p:txBody>
          <a:bodyPr wrap="square" lIns="0" tIns="0" rIns="0" bIns="0" rtlCol="0" anchor="ctr"/>
          <a:lstStyle/>
          <a:p>
            <a:pPr indent="0" marL="0">
              <a:lnSpc>
                <a:spcPct val="120000"/>
              </a:lnSpc>
              <a:buNone/>
            </a:pPr>
            <a:r>
              <a:rPr lang="en-US" sz="1550" dirty="0">
                <a:solidFill>
                  <a:srgbClr val="1C3A52"/>
                </a:solidFill>
                <a:latin typeface="Calibri" pitchFamily="34" charset="0"/>
                <a:ea typeface="Calibri" pitchFamily="34" charset="-122"/>
                <a:cs typeface="Calibri" pitchFamily="34" charset="-120"/>
              </a:rPr>
              <a:t>Your edge is not your personality. It is a chosen weapon, sharpened until it is undeniable.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1100" b="1" spc="300" kern="0" dirty="0">
                <a:solidFill>
                  <a:srgbClr val="8F7647"/>
                </a:solidFill>
                <a:latin typeface="Calibri" pitchFamily="34" charset="0"/>
                <a:ea typeface="Calibri" pitchFamily="34" charset="-122"/>
                <a:cs typeface="Calibri" pitchFamily="34" charset="-120"/>
              </a:rPr>
              <a:t>THE PRINCIPLE</a:t>
            </a:r>
            <a:endParaRPr lang="en-US" sz="1100" dirty="0"/>
          </a:p>
        </p:txBody>
      </p:sp>
      <p:sp>
        <p:nvSpPr>
          <p:cNvPr id="3" name="Text 1"/>
          <p:cNvSpPr/>
          <p:nvPr/>
        </p:nvSpPr>
        <p:spPr>
          <a:xfrm>
            <a:off x="640080" y="822960"/>
            <a:ext cx="10972800" cy="640080"/>
          </a:xfrm>
          <a:prstGeom prst="rect">
            <a:avLst/>
          </a:prstGeom>
          <a:noFill/>
          <a:ln/>
        </p:spPr>
        <p:txBody>
          <a:bodyPr wrap="square" lIns="0" tIns="0" rIns="0" bIns="0" rtlCol="0" anchor="ctr"/>
          <a:lstStyle/>
          <a:p>
            <a:pPr indent="0" marL="0">
              <a:buNone/>
            </a:pPr>
            <a:r>
              <a:rPr lang="en-US" sz="3800" b="1" dirty="0">
                <a:solidFill>
                  <a:srgbClr val="1A1A17"/>
                </a:solidFill>
                <a:latin typeface="Cambria" pitchFamily="34" charset="0"/>
                <a:ea typeface="Cambria" pitchFamily="34" charset="-122"/>
                <a:cs typeface="Cambria" pitchFamily="34" charset="-120"/>
              </a:rPr>
              <a:t>A Tool Is Not a Weapon</a:t>
            </a:r>
            <a:endParaRPr lang="en-US" sz="3800" dirty="0"/>
          </a:p>
        </p:txBody>
      </p:sp>
      <p:sp>
        <p:nvSpPr>
          <p:cNvPr id="4" name="Text 2"/>
          <p:cNvSpPr/>
          <p:nvPr/>
        </p:nvSpPr>
        <p:spPr>
          <a:xfrm>
            <a:off x="640080" y="1572768"/>
            <a:ext cx="10515600" cy="365760"/>
          </a:xfrm>
          <a:prstGeom prst="rect">
            <a:avLst/>
          </a:prstGeom>
          <a:noFill/>
          <a:ln/>
        </p:spPr>
        <p:txBody>
          <a:bodyPr wrap="square" lIns="0" tIns="0" rIns="0" bIns="0" rtlCol="0" anchor="ctr"/>
          <a:lstStyle/>
          <a:p>
            <a:pPr indent="0" marL="0">
              <a:buNone/>
            </a:pPr>
            <a:r>
              <a:rPr lang="en-US" sz="1550" dirty="0">
                <a:solidFill>
                  <a:srgbClr val="3E3B34"/>
                </a:solidFill>
                <a:latin typeface="Calibri" pitchFamily="34" charset="0"/>
                <a:ea typeface="Calibri" pitchFamily="34" charset="-122"/>
                <a:cs typeface="Calibri" pitchFamily="34" charset="-120"/>
              </a:rPr>
              <a:t>A method only becomes a weapon when you define the formula for how it strikes.</a:t>
            </a:r>
            <a:endParaRPr lang="en-US" sz="1550" dirty="0"/>
          </a:p>
        </p:txBody>
      </p:sp>
      <p:sp>
        <p:nvSpPr>
          <p:cNvPr id="5" name="Shape 3"/>
          <p:cNvSpPr/>
          <p:nvPr/>
        </p:nvSpPr>
        <p:spPr>
          <a:xfrm>
            <a:off x="640080" y="2286000"/>
            <a:ext cx="3383280" cy="1783080"/>
          </a:xfrm>
          <a:prstGeom prst="roundRect">
            <a:avLst>
              <a:gd name="adj" fmla="val 410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6" name="Text 4"/>
          <p:cNvSpPr/>
          <p:nvPr/>
        </p:nvSpPr>
        <p:spPr>
          <a:xfrm>
            <a:off x="960120" y="2560320"/>
            <a:ext cx="1097280" cy="548640"/>
          </a:xfrm>
          <a:prstGeom prst="rect">
            <a:avLst/>
          </a:prstGeom>
          <a:noFill/>
          <a:ln/>
        </p:spPr>
        <p:txBody>
          <a:bodyPr wrap="square" lIns="0" tIns="0" rIns="0" bIns="0" rtlCol="0" anchor="ctr"/>
          <a:lstStyle/>
          <a:p>
            <a:pPr indent="0" marL="0">
              <a:buNone/>
            </a:pPr>
            <a:r>
              <a:rPr lang="en-US" sz="3000" b="1" dirty="0">
                <a:solidFill>
                  <a:srgbClr val="8F7647"/>
                </a:solidFill>
                <a:latin typeface="Cambria" pitchFamily="34" charset="0"/>
                <a:ea typeface="Cambria" pitchFamily="34" charset="-122"/>
                <a:cs typeface="Cambria" pitchFamily="34" charset="-120"/>
              </a:rPr>
              <a:t>01</a:t>
            </a:r>
            <a:endParaRPr lang="en-US" sz="3000" dirty="0"/>
          </a:p>
        </p:txBody>
      </p:sp>
      <p:sp>
        <p:nvSpPr>
          <p:cNvPr id="7" name="Text 5"/>
          <p:cNvSpPr/>
          <p:nvPr/>
        </p:nvSpPr>
        <p:spPr>
          <a:xfrm>
            <a:off x="960120" y="3063240"/>
            <a:ext cx="2743200" cy="411480"/>
          </a:xfrm>
          <a:prstGeom prst="rect">
            <a:avLst/>
          </a:prstGeom>
          <a:noFill/>
          <a:ln/>
        </p:spPr>
        <p:txBody>
          <a:bodyPr wrap="square" lIns="0" tIns="0" rIns="0" bIns="0" rtlCol="0" anchor="ctr"/>
          <a:lstStyle/>
          <a:p>
            <a:pPr indent="0" marL="0">
              <a:buNone/>
            </a:pPr>
            <a:r>
              <a:rPr lang="en-US" sz="2200" b="1" dirty="0">
                <a:solidFill>
                  <a:srgbClr val="1A1A17"/>
                </a:solidFill>
                <a:latin typeface="Cambria" pitchFamily="34" charset="0"/>
                <a:ea typeface="Cambria" pitchFamily="34" charset="-122"/>
                <a:cs typeface="Cambria" pitchFamily="34" charset="-120"/>
              </a:rPr>
              <a:t>Tool</a:t>
            </a:r>
            <a:endParaRPr lang="en-US" sz="2200" dirty="0"/>
          </a:p>
        </p:txBody>
      </p:sp>
      <p:sp>
        <p:nvSpPr>
          <p:cNvPr id="8" name="Text 6"/>
          <p:cNvSpPr/>
          <p:nvPr/>
        </p:nvSpPr>
        <p:spPr>
          <a:xfrm>
            <a:off x="960120" y="3493008"/>
            <a:ext cx="2743200" cy="502920"/>
          </a:xfrm>
          <a:prstGeom prst="rect">
            <a:avLst/>
          </a:prstGeom>
          <a:noFill/>
          <a:ln/>
        </p:spPr>
        <p:txBody>
          <a:bodyPr wrap="square" lIns="0" tIns="0" rIns="0" bIns="0" rtlCol="0" anchor="ctr"/>
          <a:lstStyle/>
          <a:p>
            <a:pPr indent="0" marL="0">
              <a:lnSpc>
                <a:spcPct val="112000"/>
              </a:lnSpc>
              <a:buNone/>
            </a:pPr>
            <a:r>
              <a:rPr lang="en-US" sz="1350" dirty="0">
                <a:solidFill>
                  <a:srgbClr val="3E3B34"/>
                </a:solidFill>
                <a:latin typeface="Calibri" pitchFamily="34" charset="0"/>
                <a:ea typeface="Calibri" pitchFamily="34" charset="-122"/>
                <a:cs typeface="Calibri" pitchFamily="34" charset="-120"/>
              </a:rPr>
              <a:t>A methodology you happen to know.</a:t>
            </a:r>
            <a:endParaRPr lang="en-US" sz="1350" dirty="0"/>
          </a:p>
        </p:txBody>
      </p:sp>
      <p:sp>
        <p:nvSpPr>
          <p:cNvPr id="9" name="Text 7"/>
          <p:cNvSpPr/>
          <p:nvPr/>
        </p:nvSpPr>
        <p:spPr>
          <a:xfrm>
            <a:off x="4041648" y="2788920"/>
            <a:ext cx="502920" cy="640080"/>
          </a:xfrm>
          <a:prstGeom prst="rect">
            <a:avLst/>
          </a:prstGeom>
          <a:noFill/>
          <a:ln/>
        </p:spPr>
        <p:txBody>
          <a:bodyPr wrap="square" lIns="0" tIns="0" rIns="0" bIns="0" rtlCol="0" anchor="ctr"/>
          <a:lstStyle/>
          <a:p>
            <a:pPr algn="ctr" indent="0" marL="0">
              <a:buNone/>
            </a:pPr>
            <a:r>
              <a:rPr lang="en-US" sz="2600" b="1" dirty="0">
                <a:solidFill>
                  <a:srgbClr val="B0935E"/>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4526280" y="2286000"/>
            <a:ext cx="3383280" cy="1783080"/>
          </a:xfrm>
          <a:prstGeom prst="roundRect">
            <a:avLst>
              <a:gd name="adj" fmla="val 4103"/>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4846320" y="2560320"/>
            <a:ext cx="1097280" cy="548640"/>
          </a:xfrm>
          <a:prstGeom prst="rect">
            <a:avLst/>
          </a:prstGeom>
          <a:noFill/>
          <a:ln/>
        </p:spPr>
        <p:txBody>
          <a:bodyPr wrap="square" lIns="0" tIns="0" rIns="0" bIns="0" rtlCol="0" anchor="ctr"/>
          <a:lstStyle/>
          <a:p>
            <a:pPr indent="0" marL="0">
              <a:buNone/>
            </a:pPr>
            <a:r>
              <a:rPr lang="en-US" sz="3000" b="1" dirty="0">
                <a:solidFill>
                  <a:srgbClr val="8F7647"/>
                </a:solidFill>
                <a:latin typeface="Cambria" pitchFamily="34" charset="0"/>
                <a:ea typeface="Cambria" pitchFamily="34" charset="-122"/>
                <a:cs typeface="Cambria" pitchFamily="34" charset="-120"/>
              </a:rPr>
              <a:t>02</a:t>
            </a:r>
            <a:endParaRPr lang="en-US" sz="3000" dirty="0"/>
          </a:p>
        </p:txBody>
      </p:sp>
      <p:sp>
        <p:nvSpPr>
          <p:cNvPr id="12" name="Text 10"/>
          <p:cNvSpPr/>
          <p:nvPr/>
        </p:nvSpPr>
        <p:spPr>
          <a:xfrm>
            <a:off x="4846320" y="3063240"/>
            <a:ext cx="2743200" cy="411480"/>
          </a:xfrm>
          <a:prstGeom prst="rect">
            <a:avLst/>
          </a:prstGeom>
          <a:noFill/>
          <a:ln/>
        </p:spPr>
        <p:txBody>
          <a:bodyPr wrap="square" lIns="0" tIns="0" rIns="0" bIns="0" rtlCol="0" anchor="ctr"/>
          <a:lstStyle/>
          <a:p>
            <a:pPr indent="0" marL="0">
              <a:buNone/>
            </a:pPr>
            <a:r>
              <a:rPr lang="en-US" sz="2200" b="1" dirty="0">
                <a:solidFill>
                  <a:srgbClr val="1A1A17"/>
                </a:solidFill>
                <a:latin typeface="Cambria" pitchFamily="34" charset="0"/>
                <a:ea typeface="Cambria" pitchFamily="34" charset="-122"/>
                <a:cs typeface="Cambria" pitchFamily="34" charset="-120"/>
              </a:rPr>
              <a:t>Weapon</a:t>
            </a:r>
            <a:endParaRPr lang="en-US" sz="2200" dirty="0"/>
          </a:p>
        </p:txBody>
      </p:sp>
      <p:sp>
        <p:nvSpPr>
          <p:cNvPr id="13" name="Text 11"/>
          <p:cNvSpPr/>
          <p:nvPr/>
        </p:nvSpPr>
        <p:spPr>
          <a:xfrm>
            <a:off x="4846320" y="3493008"/>
            <a:ext cx="2743200" cy="502920"/>
          </a:xfrm>
          <a:prstGeom prst="rect">
            <a:avLst/>
          </a:prstGeom>
          <a:noFill/>
          <a:ln/>
        </p:spPr>
        <p:txBody>
          <a:bodyPr wrap="square" lIns="0" tIns="0" rIns="0" bIns="0" rtlCol="0" anchor="ctr"/>
          <a:lstStyle/>
          <a:p>
            <a:pPr indent="0" marL="0">
              <a:lnSpc>
                <a:spcPct val="112000"/>
              </a:lnSpc>
              <a:buNone/>
            </a:pPr>
            <a:r>
              <a:rPr lang="en-US" sz="1350" dirty="0">
                <a:solidFill>
                  <a:srgbClr val="3E3B34"/>
                </a:solidFill>
                <a:latin typeface="Calibri" pitchFamily="34" charset="0"/>
                <a:ea typeface="Calibri" pitchFamily="34" charset="-122"/>
                <a:cs typeface="Calibri" pitchFamily="34" charset="-120"/>
              </a:rPr>
              <a:t>That tool, chosen deliberately as your one edge.</a:t>
            </a:r>
            <a:endParaRPr lang="en-US" sz="1350" dirty="0"/>
          </a:p>
        </p:txBody>
      </p:sp>
      <p:sp>
        <p:nvSpPr>
          <p:cNvPr id="14" name="Text 12"/>
          <p:cNvSpPr/>
          <p:nvPr/>
        </p:nvSpPr>
        <p:spPr>
          <a:xfrm>
            <a:off x="7927848" y="2788920"/>
            <a:ext cx="502920" cy="640080"/>
          </a:xfrm>
          <a:prstGeom prst="rect">
            <a:avLst/>
          </a:prstGeom>
          <a:noFill/>
          <a:ln/>
        </p:spPr>
        <p:txBody>
          <a:bodyPr wrap="square" lIns="0" tIns="0" rIns="0" bIns="0" rtlCol="0" anchor="ctr"/>
          <a:lstStyle/>
          <a:p>
            <a:pPr algn="ctr" indent="0" marL="0">
              <a:buNone/>
            </a:pPr>
            <a:r>
              <a:rPr lang="en-US" sz="2600" b="1" dirty="0">
                <a:solidFill>
                  <a:srgbClr val="B0935E"/>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8412480" y="2286000"/>
            <a:ext cx="3383280" cy="1783080"/>
          </a:xfrm>
          <a:prstGeom prst="roundRect">
            <a:avLst>
              <a:gd name="adj" fmla="val 4103"/>
            </a:avLst>
          </a:prstGeom>
          <a:solidFill>
            <a:srgbClr val="1C3A52"/>
          </a:solidFill>
          <a:ln w="12700">
            <a:solidFill>
              <a:srgbClr val="1C3A52"/>
            </a:solidFill>
            <a:prstDash val="solid"/>
          </a:ln>
          <a:effectLst>
            <a:outerShdw sx="100000" sy="100000" kx="0" ky="0" algn="bl" rotWithShape="0" blurRad="88900" dist="38100" dir="5400000">
              <a:srgbClr val="000000">
                <a:alpha val="12000"/>
              </a:srgbClr>
            </a:outerShdw>
          </a:effectLst>
        </p:spPr>
      </p:sp>
      <p:sp>
        <p:nvSpPr>
          <p:cNvPr id="16" name="Text 14"/>
          <p:cNvSpPr/>
          <p:nvPr/>
        </p:nvSpPr>
        <p:spPr>
          <a:xfrm>
            <a:off x="8732520" y="2560320"/>
            <a:ext cx="1097280" cy="548640"/>
          </a:xfrm>
          <a:prstGeom prst="rect">
            <a:avLst/>
          </a:prstGeom>
          <a:noFill/>
          <a:ln/>
        </p:spPr>
        <p:txBody>
          <a:bodyPr wrap="square" lIns="0" tIns="0" rIns="0" bIns="0" rtlCol="0" anchor="ctr"/>
          <a:lstStyle/>
          <a:p>
            <a:pPr indent="0" marL="0">
              <a:buNone/>
            </a:pPr>
            <a:r>
              <a:rPr lang="en-US" sz="3000" b="1" dirty="0">
                <a:solidFill>
                  <a:srgbClr val="B0935E"/>
                </a:solidFill>
                <a:latin typeface="Cambria" pitchFamily="34" charset="0"/>
                <a:ea typeface="Cambria" pitchFamily="34" charset="-122"/>
                <a:cs typeface="Cambria" pitchFamily="34" charset="-120"/>
              </a:rPr>
              <a:t>03</a:t>
            </a:r>
            <a:endParaRPr lang="en-US" sz="3000" dirty="0"/>
          </a:p>
        </p:txBody>
      </p:sp>
      <p:sp>
        <p:nvSpPr>
          <p:cNvPr id="17" name="Text 15"/>
          <p:cNvSpPr/>
          <p:nvPr/>
        </p:nvSpPr>
        <p:spPr>
          <a:xfrm>
            <a:off x="8732520" y="3063240"/>
            <a:ext cx="2743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Formula</a:t>
            </a:r>
            <a:endParaRPr lang="en-US" sz="2200" dirty="0"/>
          </a:p>
        </p:txBody>
      </p:sp>
      <p:sp>
        <p:nvSpPr>
          <p:cNvPr id="18" name="Text 16"/>
          <p:cNvSpPr/>
          <p:nvPr/>
        </p:nvSpPr>
        <p:spPr>
          <a:xfrm>
            <a:off x="8732520" y="3493008"/>
            <a:ext cx="2743200" cy="502920"/>
          </a:xfrm>
          <a:prstGeom prst="rect">
            <a:avLst/>
          </a:prstGeom>
          <a:noFill/>
          <a:ln/>
        </p:spPr>
        <p:txBody>
          <a:bodyPr wrap="square" lIns="0" tIns="0" rIns="0" bIns="0" rtlCol="0" anchor="ctr"/>
          <a:lstStyle/>
          <a:p>
            <a:pPr indent="0" marL="0">
              <a:lnSpc>
                <a:spcPct val="112000"/>
              </a:lnSpc>
              <a:buNone/>
            </a:pPr>
            <a:r>
              <a:rPr lang="en-US" sz="1350" dirty="0">
                <a:solidFill>
                  <a:srgbClr val="F1ECE0"/>
                </a:solidFill>
                <a:latin typeface="Calibri" pitchFamily="34" charset="0"/>
                <a:ea typeface="Calibri" pitchFamily="34" charset="-122"/>
                <a:cs typeface="Calibri" pitchFamily="34" charset="-120"/>
              </a:rPr>
              <a:t>The repeatable equation for when and how it wins.</a:t>
            </a:r>
            <a:endParaRPr lang="en-US" sz="1350" dirty="0"/>
          </a:p>
        </p:txBody>
      </p:sp>
      <p:sp>
        <p:nvSpPr>
          <p:cNvPr id="19" name="Shape 17"/>
          <p:cNvSpPr/>
          <p:nvPr/>
        </p:nvSpPr>
        <p:spPr>
          <a:xfrm>
            <a:off x="640080" y="4434840"/>
            <a:ext cx="10881360" cy="1417320"/>
          </a:xfrm>
          <a:prstGeom prst="roundRect">
            <a:avLst>
              <a:gd name="adj" fmla="val 5161"/>
            </a:avLst>
          </a:prstGeom>
          <a:solidFill>
            <a:srgbClr val="ECE7DA"/>
          </a:solidFill>
          <a:ln/>
        </p:spPr>
      </p:sp>
      <p:sp>
        <p:nvSpPr>
          <p:cNvPr id="20" name="Text 18"/>
          <p:cNvSpPr/>
          <p:nvPr/>
        </p:nvSpPr>
        <p:spPr>
          <a:xfrm>
            <a:off x="1005840" y="4663440"/>
            <a:ext cx="10058400" cy="274320"/>
          </a:xfrm>
          <a:prstGeom prst="rect">
            <a:avLst/>
          </a:prstGeom>
          <a:noFill/>
          <a:ln/>
        </p:spPr>
        <p:txBody>
          <a:bodyPr wrap="square" lIns="0" tIns="0" rIns="0" bIns="0" rtlCol="0" anchor="ctr"/>
          <a:lstStyle/>
          <a:p>
            <a:pPr indent="0" marL="0">
              <a:buNone/>
            </a:pPr>
            <a:r>
              <a:rPr lang="en-US" sz="1100" b="1" spc="200" kern="0" dirty="0">
                <a:solidFill>
                  <a:srgbClr val="8F7647"/>
                </a:solidFill>
                <a:latin typeface="Calibri" pitchFamily="34" charset="0"/>
                <a:ea typeface="Calibri" pitchFamily="34" charset="-122"/>
                <a:cs typeface="Calibri" pitchFamily="34" charset="-120"/>
              </a:rPr>
              <a:t>A FORMULA, NOT A FEATURE LIST</a:t>
            </a:r>
            <a:endParaRPr lang="en-US" sz="1100" dirty="0"/>
          </a:p>
        </p:txBody>
      </p:sp>
      <p:sp>
        <p:nvSpPr>
          <p:cNvPr id="21" name="Text 19"/>
          <p:cNvSpPr/>
          <p:nvPr/>
        </p:nvSpPr>
        <p:spPr>
          <a:xfrm>
            <a:off x="1005840" y="4983480"/>
            <a:ext cx="10149840" cy="777240"/>
          </a:xfrm>
          <a:prstGeom prst="rect">
            <a:avLst/>
          </a:prstGeom>
          <a:noFill/>
          <a:ln/>
        </p:spPr>
        <p:txBody>
          <a:bodyPr wrap="square" lIns="0" tIns="0" rIns="0" bIns="0" rtlCol="0" anchor="ctr"/>
          <a:lstStyle/>
          <a:p>
            <a:pPr indent="0" marL="0">
              <a:lnSpc>
                <a:spcPct val="110000"/>
              </a:lnSpc>
              <a:buNone/>
            </a:pPr>
            <a:r>
              <a:rPr lang="en-US" sz="1900" i="1" dirty="0">
                <a:solidFill>
                  <a:srgbClr val="1A1A17"/>
                </a:solidFill>
                <a:latin typeface="Cambria" pitchFamily="34" charset="0"/>
                <a:ea typeface="Cambria" pitchFamily="34" charset="-122"/>
                <a:cs typeface="Cambria" pitchFamily="34" charset="-120"/>
              </a:rPr>
              <a:t>“When I reach a Head of Trading, I open with a quantified cost of their status quo — not a feature list — and close discovery in a single call.”</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1100" b="1" spc="300" kern="0" dirty="0">
                <a:solidFill>
                  <a:srgbClr val="8F7647"/>
                </a:solidFill>
                <a:latin typeface="Calibri" pitchFamily="34" charset="0"/>
                <a:ea typeface="Calibri" pitchFamily="34" charset="-122"/>
                <a:cs typeface="Calibri" pitchFamily="34" charset="-120"/>
              </a:rPr>
              <a:t>THE ARSENAL</a:t>
            </a:r>
            <a:endParaRPr lang="en-US" sz="1100" dirty="0"/>
          </a:p>
        </p:txBody>
      </p:sp>
      <p:sp>
        <p:nvSpPr>
          <p:cNvPr id="3" name="Text 1"/>
          <p:cNvSpPr/>
          <p:nvPr/>
        </p:nvSpPr>
        <p:spPr>
          <a:xfrm>
            <a:off x="640080" y="822960"/>
            <a:ext cx="10972800" cy="640080"/>
          </a:xfrm>
          <a:prstGeom prst="rect">
            <a:avLst/>
          </a:prstGeom>
          <a:noFill/>
          <a:ln/>
        </p:spPr>
        <p:txBody>
          <a:bodyPr wrap="square" lIns="0" tIns="0" rIns="0" bIns="0" rtlCol="0" anchor="ctr"/>
          <a:lstStyle/>
          <a:p>
            <a:pPr indent="0" marL="0">
              <a:buNone/>
            </a:pPr>
            <a:r>
              <a:rPr lang="en-US" sz="3600" b="1" dirty="0">
                <a:solidFill>
                  <a:srgbClr val="1A1A17"/>
                </a:solidFill>
                <a:latin typeface="Cambria" pitchFamily="34" charset="0"/>
                <a:ea typeface="Cambria" pitchFamily="34" charset="-122"/>
                <a:cs typeface="Cambria" pitchFamily="34" charset="-120"/>
              </a:rPr>
              <a:t>Three Weapons, Three Formulas</a:t>
            </a:r>
            <a:endParaRPr lang="en-US" sz="3600" dirty="0"/>
          </a:p>
        </p:txBody>
      </p:sp>
      <p:sp>
        <p:nvSpPr>
          <p:cNvPr id="4" name="Text 2"/>
          <p:cNvSpPr/>
          <p:nvPr/>
        </p:nvSpPr>
        <p:spPr>
          <a:xfrm>
            <a:off x="640080" y="1572768"/>
            <a:ext cx="10881360" cy="457200"/>
          </a:xfrm>
          <a:prstGeom prst="rect">
            <a:avLst/>
          </a:prstGeom>
          <a:noFill/>
          <a:ln/>
        </p:spPr>
        <p:txBody>
          <a:bodyPr wrap="square" lIns="0" tIns="0" rIns="0" bIns="0" rtlCol="0" anchor="ctr"/>
          <a:lstStyle/>
          <a:p>
            <a:pPr indent="0" marL="0">
              <a:buNone/>
            </a:pPr>
            <a:r>
              <a:rPr lang="en-US" sz="1500" dirty="0">
                <a:solidFill>
                  <a:srgbClr val="3E3B34"/>
                </a:solidFill>
                <a:latin typeface="Calibri" pitchFamily="34" charset="0"/>
                <a:ea typeface="Calibri" pitchFamily="34" charset="-122"/>
                <a:cs typeface="Calibri" pitchFamily="34" charset="-120"/>
              </a:rPr>
              <a:t>Each is a different way to win contested budget in capital-markets technology. You will master one before all.</a:t>
            </a:r>
            <a:endParaRPr lang="en-US" sz="1500" dirty="0"/>
          </a:p>
        </p:txBody>
      </p:sp>
      <p:sp>
        <p:nvSpPr>
          <p:cNvPr id="5" name="Shape 3"/>
          <p:cNvSpPr/>
          <p:nvPr/>
        </p:nvSpPr>
        <p:spPr>
          <a:xfrm>
            <a:off x="640080" y="2240280"/>
            <a:ext cx="3383280" cy="3977640"/>
          </a:xfrm>
          <a:prstGeom prst="roundRect">
            <a:avLst>
              <a:gd name="adj" fmla="val 2162"/>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6" name="Shape 4"/>
          <p:cNvSpPr/>
          <p:nvPr/>
        </p:nvSpPr>
        <p:spPr>
          <a:xfrm>
            <a:off x="1005840" y="2624328"/>
            <a:ext cx="868680" cy="868680"/>
          </a:xfrm>
          <a:prstGeom prst="ellipse">
            <a:avLst/>
          </a:prstGeom>
          <a:solidFill>
            <a:srgbClr val="1C3A52"/>
          </a:solidFill>
          <a:ln/>
        </p:spPr>
      </p:sp>
      <p:pic>
        <p:nvPicPr>
          <p:cNvPr id="7" name="Image 0" descr="preencoded.png">    </p:cNvPr>
          <p:cNvPicPr>
            <a:picLocks noChangeAspect="1"/>
          </p:cNvPicPr>
          <p:nvPr/>
        </p:nvPicPr>
        <p:blipFill>
          <a:blip r:embed="rId1"/>
          <a:stretch>
            <a:fillRect/>
          </a:stretch>
        </p:blipFill>
        <p:spPr>
          <a:xfrm>
            <a:off x="1225296" y="2843784"/>
            <a:ext cx="429768" cy="429768"/>
          </a:xfrm>
          <a:prstGeom prst="rect">
            <a:avLst/>
          </a:prstGeom>
        </p:spPr>
      </p:pic>
      <p:sp>
        <p:nvSpPr>
          <p:cNvPr id="8" name="Text 5"/>
          <p:cNvSpPr/>
          <p:nvPr/>
        </p:nvSpPr>
        <p:spPr>
          <a:xfrm>
            <a:off x="1005840" y="3657600"/>
            <a:ext cx="2651760" cy="777240"/>
          </a:xfrm>
          <a:prstGeom prst="rect">
            <a:avLst/>
          </a:prstGeom>
          <a:noFill/>
          <a:ln/>
        </p:spPr>
        <p:txBody>
          <a:bodyPr wrap="square" lIns="0" tIns="0" rIns="0" bIns="0" rtlCol="0" anchor="t"/>
          <a:lstStyle/>
          <a:p>
            <a:pPr indent="0" marL="0">
              <a:buNone/>
            </a:pPr>
            <a:r>
              <a:rPr lang="en-US" sz="2100" b="1" dirty="0">
                <a:solidFill>
                  <a:srgbClr val="1A1A17"/>
                </a:solidFill>
                <a:latin typeface="Cambria" pitchFamily="34" charset="0"/>
                <a:ea typeface="Cambria" pitchFamily="34" charset="-122"/>
                <a:cs typeface="Cambria" pitchFamily="34" charset="-120"/>
              </a:rPr>
              <a:t>The Relationship Weapon</a:t>
            </a:r>
            <a:endParaRPr lang="en-US" sz="2100" dirty="0"/>
          </a:p>
        </p:txBody>
      </p:sp>
      <p:sp>
        <p:nvSpPr>
          <p:cNvPr id="9" name="Text 6"/>
          <p:cNvSpPr/>
          <p:nvPr/>
        </p:nvSpPr>
        <p:spPr>
          <a:xfrm>
            <a:off x="1005840" y="4389120"/>
            <a:ext cx="2651760" cy="1645920"/>
          </a:xfrm>
          <a:prstGeom prst="rect">
            <a:avLst/>
          </a:prstGeom>
          <a:noFill/>
          <a:ln/>
        </p:spPr>
        <p:txBody>
          <a:bodyPr wrap="square" lIns="0" tIns="0" rIns="0" bIns="0" rtlCol="0" anchor="ctr"/>
          <a:lstStyle/>
          <a:p>
            <a:pPr indent="0" marL="0">
              <a:lnSpc>
                <a:spcPct val="118000"/>
              </a:lnSpc>
              <a:buNone/>
            </a:pPr>
            <a:r>
              <a:rPr lang="en-US" sz="1400" dirty="0">
                <a:solidFill>
                  <a:srgbClr val="3E3B34"/>
                </a:solidFill>
                <a:latin typeface="Calibri" pitchFamily="34" charset="0"/>
                <a:ea typeface="Calibri" pitchFamily="34" charset="-122"/>
                <a:cs typeface="Calibri" pitchFamily="34" charset="-120"/>
              </a:rPr>
              <a:t>In institutional finance, trust is capital. You don't win because they like you — you win because your standing earns the internal leverage to unseat a multi-year legacy vendor.</a:t>
            </a:r>
            <a:endParaRPr lang="en-US" sz="1400" dirty="0"/>
          </a:p>
        </p:txBody>
      </p:sp>
      <p:sp>
        <p:nvSpPr>
          <p:cNvPr id="10" name="Shape 7"/>
          <p:cNvSpPr/>
          <p:nvPr/>
        </p:nvSpPr>
        <p:spPr>
          <a:xfrm>
            <a:off x="4389120" y="2240280"/>
            <a:ext cx="3383280" cy="3977640"/>
          </a:xfrm>
          <a:prstGeom prst="roundRect">
            <a:avLst>
              <a:gd name="adj" fmla="val 2162"/>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11" name="Shape 8"/>
          <p:cNvSpPr/>
          <p:nvPr/>
        </p:nvSpPr>
        <p:spPr>
          <a:xfrm>
            <a:off x="4754880" y="2624328"/>
            <a:ext cx="868680" cy="868680"/>
          </a:xfrm>
          <a:prstGeom prst="ellipse">
            <a:avLst/>
          </a:prstGeom>
          <a:solidFill>
            <a:srgbClr val="1C3A52"/>
          </a:solidFill>
          <a:ln/>
        </p:spPr>
      </p:sp>
      <p:pic>
        <p:nvPicPr>
          <p:cNvPr id="12" name="Image 1" descr="preencoded.png">    </p:cNvPr>
          <p:cNvPicPr>
            <a:picLocks noChangeAspect="1"/>
          </p:cNvPicPr>
          <p:nvPr/>
        </p:nvPicPr>
        <p:blipFill>
          <a:blip r:embed="rId2"/>
          <a:stretch>
            <a:fillRect/>
          </a:stretch>
        </p:blipFill>
        <p:spPr>
          <a:xfrm>
            <a:off x="4974336" y="2843784"/>
            <a:ext cx="429768" cy="429768"/>
          </a:xfrm>
          <a:prstGeom prst="rect">
            <a:avLst/>
          </a:prstGeom>
        </p:spPr>
      </p:pic>
      <p:sp>
        <p:nvSpPr>
          <p:cNvPr id="13" name="Text 9"/>
          <p:cNvSpPr/>
          <p:nvPr/>
        </p:nvSpPr>
        <p:spPr>
          <a:xfrm>
            <a:off x="4754880" y="3657600"/>
            <a:ext cx="2651760" cy="777240"/>
          </a:xfrm>
          <a:prstGeom prst="rect">
            <a:avLst/>
          </a:prstGeom>
          <a:noFill/>
          <a:ln/>
        </p:spPr>
        <p:txBody>
          <a:bodyPr wrap="square" lIns="0" tIns="0" rIns="0" bIns="0" rtlCol="0" anchor="t"/>
          <a:lstStyle/>
          <a:p>
            <a:pPr indent="0" marL="0">
              <a:buNone/>
            </a:pPr>
            <a:r>
              <a:rPr lang="en-US" sz="2100" b="1" dirty="0">
                <a:solidFill>
                  <a:srgbClr val="1A1A17"/>
                </a:solidFill>
                <a:latin typeface="Cambria" pitchFamily="34" charset="0"/>
                <a:ea typeface="Cambria" pitchFamily="34" charset="-122"/>
                <a:cs typeface="Cambria" pitchFamily="34" charset="-120"/>
              </a:rPr>
              <a:t>The Challenger Weapon</a:t>
            </a:r>
            <a:endParaRPr lang="en-US" sz="2100" dirty="0"/>
          </a:p>
        </p:txBody>
      </p:sp>
      <p:sp>
        <p:nvSpPr>
          <p:cNvPr id="14" name="Text 10"/>
          <p:cNvSpPr/>
          <p:nvPr/>
        </p:nvSpPr>
        <p:spPr>
          <a:xfrm>
            <a:off x="4754880" y="4389120"/>
            <a:ext cx="2651760" cy="1645920"/>
          </a:xfrm>
          <a:prstGeom prst="rect">
            <a:avLst/>
          </a:prstGeom>
          <a:noFill/>
          <a:ln/>
        </p:spPr>
        <p:txBody>
          <a:bodyPr wrap="square" lIns="0" tIns="0" rIns="0" bIns="0" rtlCol="0" anchor="ctr"/>
          <a:lstStyle/>
          <a:p>
            <a:pPr indent="0" marL="0">
              <a:lnSpc>
                <a:spcPct val="118000"/>
              </a:lnSpc>
              <a:buNone/>
            </a:pPr>
            <a:r>
              <a:rPr lang="en-US" sz="1400" dirty="0">
                <a:solidFill>
                  <a:srgbClr val="3E3B34"/>
                </a:solidFill>
                <a:latin typeface="Calibri" pitchFamily="34" charset="0"/>
                <a:ea typeface="Calibri" pitchFamily="34" charset="-122"/>
                <a:cs typeface="Calibri" pitchFamily="34" charset="-120"/>
              </a:rPr>
              <a:t>Don't ask what they want; confront them with a cost they hadn't measured. “Your legacy pipeline spikes 4ms at peak — about $200k a day in slippage. Here's the fix.”</a:t>
            </a:r>
            <a:endParaRPr lang="en-US" sz="1400" dirty="0"/>
          </a:p>
        </p:txBody>
      </p:sp>
      <p:sp>
        <p:nvSpPr>
          <p:cNvPr id="15" name="Shape 11"/>
          <p:cNvSpPr/>
          <p:nvPr/>
        </p:nvSpPr>
        <p:spPr>
          <a:xfrm>
            <a:off x="8138160" y="2240280"/>
            <a:ext cx="3383280" cy="3977640"/>
          </a:xfrm>
          <a:prstGeom prst="roundRect">
            <a:avLst>
              <a:gd name="adj" fmla="val 2162"/>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16" name="Shape 12"/>
          <p:cNvSpPr/>
          <p:nvPr/>
        </p:nvSpPr>
        <p:spPr>
          <a:xfrm>
            <a:off x="8503920" y="2624328"/>
            <a:ext cx="868680" cy="868680"/>
          </a:xfrm>
          <a:prstGeom prst="ellipse">
            <a:avLst/>
          </a:prstGeom>
          <a:solidFill>
            <a:srgbClr val="1C3A52"/>
          </a:solidFill>
          <a:ln/>
        </p:spPr>
      </p:sp>
      <p:pic>
        <p:nvPicPr>
          <p:cNvPr id="17" name="Image 2" descr="preencoded.png">    </p:cNvPr>
          <p:cNvPicPr>
            <a:picLocks noChangeAspect="1"/>
          </p:cNvPicPr>
          <p:nvPr/>
        </p:nvPicPr>
        <p:blipFill>
          <a:blip r:embed="rId3"/>
          <a:stretch>
            <a:fillRect/>
          </a:stretch>
        </p:blipFill>
        <p:spPr>
          <a:xfrm>
            <a:off x="8723376" y="2843784"/>
            <a:ext cx="429768" cy="429768"/>
          </a:xfrm>
          <a:prstGeom prst="rect">
            <a:avLst/>
          </a:prstGeom>
        </p:spPr>
      </p:pic>
      <p:sp>
        <p:nvSpPr>
          <p:cNvPr id="18" name="Text 13"/>
          <p:cNvSpPr/>
          <p:nvPr/>
        </p:nvSpPr>
        <p:spPr>
          <a:xfrm>
            <a:off x="8503920" y="3657600"/>
            <a:ext cx="2651760" cy="777240"/>
          </a:xfrm>
          <a:prstGeom prst="rect">
            <a:avLst/>
          </a:prstGeom>
          <a:noFill/>
          <a:ln/>
        </p:spPr>
        <p:txBody>
          <a:bodyPr wrap="square" lIns="0" tIns="0" rIns="0" bIns="0" rtlCol="0" anchor="t"/>
          <a:lstStyle/>
          <a:p>
            <a:pPr indent="0" marL="0">
              <a:buNone/>
            </a:pPr>
            <a:r>
              <a:rPr lang="en-US" sz="2100" b="1" dirty="0">
                <a:solidFill>
                  <a:srgbClr val="1A1A17"/>
                </a:solidFill>
                <a:latin typeface="Cambria" pitchFamily="34" charset="0"/>
                <a:ea typeface="Cambria" pitchFamily="34" charset="-122"/>
                <a:cs typeface="Cambria" pitchFamily="34" charset="-120"/>
              </a:rPr>
              <a:t>The Demo Weapon</a:t>
            </a:r>
            <a:endParaRPr lang="en-US" sz="2100" dirty="0"/>
          </a:p>
        </p:txBody>
      </p:sp>
      <p:sp>
        <p:nvSpPr>
          <p:cNvPr id="19" name="Text 14"/>
          <p:cNvSpPr/>
          <p:nvPr/>
        </p:nvSpPr>
        <p:spPr>
          <a:xfrm>
            <a:off x="8503920" y="4389120"/>
            <a:ext cx="2651760" cy="1645920"/>
          </a:xfrm>
          <a:prstGeom prst="rect">
            <a:avLst/>
          </a:prstGeom>
          <a:noFill/>
          <a:ln/>
        </p:spPr>
        <p:txBody>
          <a:bodyPr wrap="square" lIns="0" tIns="0" rIns="0" bIns="0" rtlCol="0" anchor="ctr"/>
          <a:lstStyle/>
          <a:p>
            <a:pPr indent="0" marL="0">
              <a:lnSpc>
                <a:spcPct val="118000"/>
              </a:lnSpc>
              <a:buNone/>
            </a:pPr>
            <a:r>
              <a:rPr lang="en-US" sz="1400" dirty="0">
                <a:solidFill>
                  <a:srgbClr val="3E3B34"/>
                </a:solidFill>
                <a:latin typeface="Calibri" pitchFamily="34" charset="0"/>
                <a:ea typeface="Calibri" pitchFamily="34" charset="-122"/>
                <a:cs typeface="Calibri" pitchFamily="34" charset="-120"/>
              </a:rPr>
              <a:t>Drop a snapshot of their messy workflow into an AI prototype and arrive with a working UI built for them. Emotional buy-in in minutes, not a PDF.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9"/>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13283A"/>
          </a:solidFill>
          <a:ln/>
        </p:spPr>
      </p:sp>
      <p:sp>
        <p:nvSpPr>
          <p:cNvPr id="3" name="Text 1"/>
          <p:cNvSpPr/>
          <p:nvPr/>
        </p:nvSpPr>
        <p:spPr>
          <a:xfrm>
            <a:off x="640080" y="868680"/>
            <a:ext cx="4114800" cy="274320"/>
          </a:xfrm>
          <a:prstGeom prst="rect">
            <a:avLst/>
          </a:prstGeom>
          <a:noFill/>
          <a:ln/>
        </p:spPr>
        <p:txBody>
          <a:bodyPr wrap="square" lIns="0" tIns="0" rIns="0" bIns="0" rtlCol="0" anchor="ctr"/>
          <a:lstStyle/>
          <a:p>
            <a:pPr indent="0" marL="0">
              <a:buNone/>
            </a:pPr>
            <a:r>
              <a:rPr lang="en-US" sz="1100" b="1" spc="300" kern="0" dirty="0">
                <a:solidFill>
                  <a:srgbClr val="B0935E"/>
                </a:solidFill>
                <a:latin typeface="Calibri" pitchFamily="34" charset="0"/>
                <a:ea typeface="Calibri" pitchFamily="34" charset="-122"/>
                <a:cs typeface="Calibri" pitchFamily="34" charset="-120"/>
              </a:rPr>
              <a:t>THE WARNING</a:t>
            </a:r>
            <a:endParaRPr lang="en-US" sz="1100" dirty="0"/>
          </a:p>
        </p:txBody>
      </p:sp>
      <p:sp>
        <p:nvSpPr>
          <p:cNvPr id="4" name="Text 2"/>
          <p:cNvSpPr/>
          <p:nvPr/>
        </p:nvSpPr>
        <p:spPr>
          <a:xfrm>
            <a:off x="640080" y="1371600"/>
            <a:ext cx="4023360" cy="237744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Every weapon has a way it fails.</a:t>
            </a:r>
            <a:endParaRPr lang="en-US" sz="4000" dirty="0"/>
          </a:p>
        </p:txBody>
      </p:sp>
      <p:pic>
        <p:nvPicPr>
          <p:cNvPr id="5" name="Image 0" descr="preencoded.png">    </p:cNvPr>
          <p:cNvPicPr>
            <a:picLocks noChangeAspect="1"/>
          </p:cNvPicPr>
          <p:nvPr/>
        </p:nvPicPr>
        <p:blipFill>
          <a:blip r:embed="rId1"/>
          <a:stretch>
            <a:fillRect/>
          </a:stretch>
        </p:blipFill>
        <p:spPr>
          <a:xfrm>
            <a:off x="640080" y="5440680"/>
            <a:ext cx="502920" cy="502920"/>
          </a:xfrm>
          <a:prstGeom prst="rect">
            <a:avLst/>
          </a:prstGeom>
        </p:spPr>
      </p:pic>
      <p:sp>
        <p:nvSpPr>
          <p:cNvPr id="6" name="Text 3"/>
          <p:cNvSpPr/>
          <p:nvPr/>
        </p:nvSpPr>
        <p:spPr>
          <a:xfrm>
            <a:off x="1243584" y="5468112"/>
            <a:ext cx="3383280" cy="411480"/>
          </a:xfrm>
          <a:prstGeom prst="rect">
            <a:avLst/>
          </a:prstGeom>
          <a:noFill/>
          <a:ln/>
        </p:spPr>
        <p:txBody>
          <a:bodyPr wrap="square" lIns="0" tIns="0" rIns="0" bIns="0" rtlCol="0" anchor="ctr"/>
          <a:lstStyle/>
          <a:p>
            <a:pPr indent="0" marL="0">
              <a:buNone/>
            </a:pPr>
            <a:r>
              <a:rPr lang="en-US" sz="1600" i="1" dirty="0">
                <a:solidFill>
                  <a:srgbClr val="B0935E"/>
                </a:solidFill>
                <a:latin typeface="Cambria" pitchFamily="34" charset="0"/>
                <a:ea typeface="Cambria" pitchFamily="34" charset="-122"/>
                <a:cs typeface="Cambria" pitchFamily="34" charset="-120"/>
              </a:rPr>
              <a:t>Couple force with integrity.</a:t>
            </a:r>
            <a:endParaRPr lang="en-US" sz="1600" dirty="0"/>
          </a:p>
        </p:txBody>
      </p:sp>
      <p:sp>
        <p:nvSpPr>
          <p:cNvPr id="7" name="Text 4"/>
          <p:cNvSpPr/>
          <p:nvPr/>
        </p:nvSpPr>
        <p:spPr>
          <a:xfrm>
            <a:off x="5577840" y="1188720"/>
            <a:ext cx="5943600" cy="2011680"/>
          </a:xfrm>
          <a:prstGeom prst="rect">
            <a:avLst/>
          </a:prstGeom>
          <a:noFill/>
          <a:ln/>
        </p:spPr>
        <p:txBody>
          <a:bodyPr wrap="square" lIns="0" tIns="0" rIns="0" bIns="0" rtlCol="0" anchor="ctr"/>
          <a:lstStyle/>
          <a:p>
            <a:pPr indent="0" marL="0">
              <a:lnSpc>
                <a:spcPct val="125000"/>
              </a:lnSpc>
              <a:buNone/>
            </a:pPr>
            <a:r>
              <a:rPr lang="en-US" sz="1700" dirty="0">
                <a:solidFill>
                  <a:srgbClr val="3E3B34"/>
                </a:solidFill>
                <a:latin typeface="Calibri" pitchFamily="34" charset="0"/>
                <a:ea typeface="Calibri" pitchFamily="34" charset="-122"/>
                <a:cs typeface="Calibri" pitchFamily="34" charset="-120"/>
              </a:rPr>
              <a:t>A demo that dazzles the front end but collapses under the CTO's scrutiny — data lineage, SOC 2, security — kills the deal. Relationship without a formula is a fluke. A Challenger claim you can't substantiate is bravado.</a:t>
            </a:r>
            <a:endParaRPr lang="en-US" sz="1700" dirty="0"/>
          </a:p>
        </p:txBody>
      </p:sp>
      <p:sp>
        <p:nvSpPr>
          <p:cNvPr id="8" name="Shape 5"/>
          <p:cNvSpPr/>
          <p:nvPr/>
        </p:nvSpPr>
        <p:spPr>
          <a:xfrm>
            <a:off x="5577840" y="3520440"/>
            <a:ext cx="5943600" cy="2103120"/>
          </a:xfrm>
          <a:prstGeom prst="roundRect">
            <a:avLst>
              <a:gd name="adj" fmla="val 3478"/>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9" name="Text 6"/>
          <p:cNvSpPr/>
          <p:nvPr/>
        </p:nvSpPr>
        <p:spPr>
          <a:xfrm>
            <a:off x="5897880" y="3794760"/>
            <a:ext cx="5303520" cy="274320"/>
          </a:xfrm>
          <a:prstGeom prst="rect">
            <a:avLst/>
          </a:prstGeom>
          <a:noFill/>
          <a:ln/>
        </p:spPr>
        <p:txBody>
          <a:bodyPr wrap="square" lIns="0" tIns="0" rIns="0" bIns="0" rtlCol="0" anchor="ctr"/>
          <a:lstStyle/>
          <a:p>
            <a:pPr indent="0" marL="0">
              <a:buNone/>
            </a:pPr>
            <a:r>
              <a:rPr lang="en-US" sz="1100" b="1" spc="200" kern="0" dirty="0">
                <a:solidFill>
                  <a:srgbClr val="8F7647"/>
                </a:solidFill>
                <a:latin typeface="Calibri" pitchFamily="34" charset="0"/>
                <a:ea typeface="Calibri" pitchFamily="34" charset="-122"/>
                <a:cs typeface="Calibri" pitchFamily="34" charset="-120"/>
              </a:rPr>
              <a:t>THE FIDELITY GAP</a:t>
            </a:r>
            <a:endParaRPr lang="en-US" sz="1100" dirty="0"/>
          </a:p>
        </p:txBody>
      </p:sp>
      <p:sp>
        <p:nvSpPr>
          <p:cNvPr id="10" name="Text 7"/>
          <p:cNvSpPr/>
          <p:nvPr/>
        </p:nvSpPr>
        <p:spPr>
          <a:xfrm>
            <a:off x="5897880" y="4160520"/>
            <a:ext cx="5303520" cy="1371600"/>
          </a:xfrm>
          <a:prstGeom prst="rect">
            <a:avLst/>
          </a:prstGeom>
          <a:noFill/>
          <a:ln/>
        </p:spPr>
        <p:txBody>
          <a:bodyPr wrap="square" lIns="0" tIns="0" rIns="0" bIns="0" rtlCol="0" anchor="ctr"/>
          <a:lstStyle/>
          <a:p>
            <a:pPr indent="0" marL="0">
              <a:lnSpc>
                <a:spcPct val="120000"/>
              </a:lnSpc>
              <a:buNone/>
            </a:pPr>
            <a:r>
              <a:rPr lang="en-US" sz="1600" dirty="0">
                <a:solidFill>
                  <a:srgbClr val="3E3B34"/>
                </a:solidFill>
                <a:latin typeface="Calibri" pitchFamily="34" charset="0"/>
                <a:ea typeface="Calibri" pitchFamily="34" charset="-122"/>
                <a:cs typeface="Calibri" pitchFamily="34" charset="-120"/>
              </a:rPr>
              <a:t>The distance between what your weapon promises and what survives scrutiny. Close it before you swing — in capital markets the gatekeepers are paid to find the gap.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1100" b="1" spc="300" kern="0" dirty="0">
                <a:solidFill>
                  <a:srgbClr val="8F7647"/>
                </a:solidFill>
                <a:latin typeface="Calibri" pitchFamily="34" charset="0"/>
                <a:ea typeface="Calibri" pitchFamily="34" charset="-122"/>
                <a:cs typeface="Calibri" pitchFamily="34" charset="-120"/>
              </a:rPr>
              <a:t>THE SELECTION</a:t>
            </a:r>
            <a:endParaRPr lang="en-US" sz="1100" dirty="0"/>
          </a:p>
        </p:txBody>
      </p:sp>
      <p:sp>
        <p:nvSpPr>
          <p:cNvPr id="3" name="Text 1"/>
          <p:cNvSpPr/>
          <p:nvPr/>
        </p:nvSpPr>
        <p:spPr>
          <a:xfrm>
            <a:off x="640080" y="822960"/>
            <a:ext cx="10972800" cy="640080"/>
          </a:xfrm>
          <a:prstGeom prst="rect">
            <a:avLst/>
          </a:prstGeom>
          <a:noFill/>
          <a:ln/>
        </p:spPr>
        <p:txBody>
          <a:bodyPr wrap="square" lIns="0" tIns="0" rIns="0" bIns="0" rtlCol="0" anchor="ctr"/>
          <a:lstStyle/>
          <a:p>
            <a:pPr indent="0" marL="0">
              <a:buNone/>
            </a:pPr>
            <a:r>
              <a:rPr lang="en-US" sz="3600" b="1" dirty="0">
                <a:solidFill>
                  <a:srgbClr val="1A1A17"/>
                </a:solidFill>
                <a:latin typeface="Cambria" pitchFamily="34" charset="0"/>
                <a:ea typeface="Cambria" pitchFamily="34" charset="-122"/>
                <a:cs typeface="Cambria" pitchFamily="34" charset="-120"/>
              </a:rPr>
              <a:t>Name Your One Weapon</a:t>
            </a:r>
            <a:endParaRPr lang="en-US" sz="3600" dirty="0"/>
          </a:p>
        </p:txBody>
      </p:sp>
      <p:sp>
        <p:nvSpPr>
          <p:cNvPr id="4" name="Shape 2"/>
          <p:cNvSpPr/>
          <p:nvPr/>
        </p:nvSpPr>
        <p:spPr>
          <a:xfrm>
            <a:off x="640080" y="1874520"/>
            <a:ext cx="3383280" cy="3703320"/>
          </a:xfrm>
          <a:prstGeom prst="roundRect">
            <a:avLst>
              <a:gd name="adj" fmla="val 2162"/>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1005840" y="2258568"/>
            <a:ext cx="868680" cy="868680"/>
          </a:xfrm>
          <a:prstGeom prst="ellipse">
            <a:avLst/>
          </a:prstGeom>
          <a:solidFill>
            <a:srgbClr val="1C3A52"/>
          </a:solidFill>
          <a:ln/>
        </p:spPr>
      </p:sp>
      <p:pic>
        <p:nvPicPr>
          <p:cNvPr id="6" name="Image 0" descr="preencoded.png">    </p:cNvPr>
          <p:cNvPicPr>
            <a:picLocks noChangeAspect="1"/>
          </p:cNvPicPr>
          <p:nvPr/>
        </p:nvPicPr>
        <p:blipFill>
          <a:blip r:embed="rId1"/>
          <a:stretch>
            <a:fillRect/>
          </a:stretch>
        </p:blipFill>
        <p:spPr>
          <a:xfrm>
            <a:off x="1225296" y="2478024"/>
            <a:ext cx="429768" cy="429768"/>
          </a:xfrm>
          <a:prstGeom prst="rect">
            <a:avLst/>
          </a:prstGeom>
        </p:spPr>
      </p:pic>
      <p:sp>
        <p:nvSpPr>
          <p:cNvPr id="7" name="Text 4"/>
          <p:cNvSpPr/>
          <p:nvPr/>
        </p:nvSpPr>
        <p:spPr>
          <a:xfrm>
            <a:off x="1005840" y="3291840"/>
            <a:ext cx="2651760" cy="777240"/>
          </a:xfrm>
          <a:prstGeom prst="rect">
            <a:avLst/>
          </a:prstGeom>
          <a:noFill/>
          <a:ln/>
        </p:spPr>
        <p:txBody>
          <a:bodyPr wrap="square" lIns="0" tIns="0" rIns="0" bIns="0" rtlCol="0" anchor="t"/>
          <a:lstStyle/>
          <a:p>
            <a:pPr indent="0" marL="0">
              <a:buNone/>
            </a:pPr>
            <a:r>
              <a:rPr lang="en-US" sz="2100" b="1" dirty="0">
                <a:solidFill>
                  <a:srgbClr val="1A1A17"/>
                </a:solidFill>
                <a:latin typeface="Cambria" pitchFamily="34" charset="0"/>
                <a:ea typeface="Cambria" pitchFamily="34" charset="-122"/>
                <a:cs typeface="Cambria" pitchFamily="34" charset="-120"/>
              </a:rPr>
              <a:t>Which strike is most yours?</a:t>
            </a:r>
            <a:endParaRPr lang="en-US" sz="2100" dirty="0"/>
          </a:p>
        </p:txBody>
      </p:sp>
      <p:sp>
        <p:nvSpPr>
          <p:cNvPr id="8" name="Text 5"/>
          <p:cNvSpPr/>
          <p:nvPr/>
        </p:nvSpPr>
        <p:spPr>
          <a:xfrm>
            <a:off x="1005840" y="4023360"/>
            <a:ext cx="2651760" cy="1371600"/>
          </a:xfrm>
          <a:prstGeom prst="rect">
            <a:avLst/>
          </a:prstGeom>
          <a:noFill/>
          <a:ln/>
        </p:spPr>
        <p:txBody>
          <a:bodyPr wrap="square" lIns="0" tIns="0" rIns="0" bIns="0" rtlCol="0" anchor="ctr"/>
          <a:lstStyle/>
          <a:p>
            <a:pPr indent="0" marL="0">
              <a:lnSpc>
                <a:spcPct val="118000"/>
              </a:lnSpc>
              <a:buNone/>
            </a:pPr>
            <a:r>
              <a:rPr lang="en-US" sz="1400" dirty="0">
                <a:solidFill>
                  <a:srgbClr val="3E3B34"/>
                </a:solidFill>
                <a:latin typeface="Calibri" pitchFamily="34" charset="0"/>
                <a:ea typeface="Calibri" pitchFamily="34" charset="-122"/>
                <a:cs typeface="Calibri" pitchFamily="34" charset="-120"/>
              </a:rPr>
              <a:t>Relationship, Challenger, or Demo. Be honest about where you are already dangerous — then commit to it.</a:t>
            </a:r>
            <a:endParaRPr lang="en-US" sz="1400" dirty="0"/>
          </a:p>
        </p:txBody>
      </p:sp>
      <p:sp>
        <p:nvSpPr>
          <p:cNvPr id="9" name="Shape 6"/>
          <p:cNvSpPr/>
          <p:nvPr/>
        </p:nvSpPr>
        <p:spPr>
          <a:xfrm>
            <a:off x="4389120" y="1874520"/>
            <a:ext cx="3383280" cy="3703320"/>
          </a:xfrm>
          <a:prstGeom prst="roundRect">
            <a:avLst>
              <a:gd name="adj" fmla="val 2162"/>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10" name="Shape 7"/>
          <p:cNvSpPr/>
          <p:nvPr/>
        </p:nvSpPr>
        <p:spPr>
          <a:xfrm>
            <a:off x="4754880" y="2258568"/>
            <a:ext cx="868680" cy="868680"/>
          </a:xfrm>
          <a:prstGeom prst="ellipse">
            <a:avLst/>
          </a:prstGeom>
          <a:solidFill>
            <a:srgbClr val="1C3A52"/>
          </a:solidFill>
          <a:ln/>
        </p:spPr>
      </p:sp>
      <p:pic>
        <p:nvPicPr>
          <p:cNvPr id="11" name="Image 1" descr="preencoded.png">    </p:cNvPr>
          <p:cNvPicPr>
            <a:picLocks noChangeAspect="1"/>
          </p:cNvPicPr>
          <p:nvPr/>
        </p:nvPicPr>
        <p:blipFill>
          <a:blip r:embed="rId2"/>
          <a:stretch>
            <a:fillRect/>
          </a:stretch>
        </p:blipFill>
        <p:spPr>
          <a:xfrm>
            <a:off x="4974336" y="2478024"/>
            <a:ext cx="429768" cy="429768"/>
          </a:xfrm>
          <a:prstGeom prst="rect">
            <a:avLst/>
          </a:prstGeom>
        </p:spPr>
      </p:pic>
      <p:sp>
        <p:nvSpPr>
          <p:cNvPr id="12" name="Text 8"/>
          <p:cNvSpPr/>
          <p:nvPr/>
        </p:nvSpPr>
        <p:spPr>
          <a:xfrm>
            <a:off x="4754880" y="3291840"/>
            <a:ext cx="2651760" cy="777240"/>
          </a:xfrm>
          <a:prstGeom prst="rect">
            <a:avLst/>
          </a:prstGeom>
          <a:noFill/>
          <a:ln/>
        </p:spPr>
        <p:txBody>
          <a:bodyPr wrap="square" lIns="0" tIns="0" rIns="0" bIns="0" rtlCol="0" anchor="t"/>
          <a:lstStyle/>
          <a:p>
            <a:pPr indent="0" marL="0">
              <a:buNone/>
            </a:pPr>
            <a:r>
              <a:rPr lang="en-US" sz="2100" b="1" dirty="0">
                <a:solidFill>
                  <a:srgbClr val="1A1A17"/>
                </a:solidFill>
                <a:latin typeface="Cambria" pitchFamily="34" charset="0"/>
                <a:ea typeface="Cambria" pitchFamily="34" charset="-122"/>
                <a:cs typeface="Cambria" pitchFamily="34" charset="-120"/>
              </a:rPr>
              <a:t>What is the formula?</a:t>
            </a:r>
            <a:endParaRPr lang="en-US" sz="2100" dirty="0"/>
          </a:p>
        </p:txBody>
      </p:sp>
      <p:sp>
        <p:nvSpPr>
          <p:cNvPr id="13" name="Text 9"/>
          <p:cNvSpPr/>
          <p:nvPr/>
        </p:nvSpPr>
        <p:spPr>
          <a:xfrm>
            <a:off x="4754880" y="4023360"/>
            <a:ext cx="2651760" cy="1371600"/>
          </a:xfrm>
          <a:prstGeom prst="rect">
            <a:avLst/>
          </a:prstGeom>
          <a:noFill/>
          <a:ln/>
        </p:spPr>
        <p:txBody>
          <a:bodyPr wrap="square" lIns="0" tIns="0" rIns="0" bIns="0" rtlCol="0" anchor="ctr"/>
          <a:lstStyle/>
          <a:p>
            <a:pPr indent="0" marL="0">
              <a:lnSpc>
                <a:spcPct val="118000"/>
              </a:lnSpc>
              <a:buNone/>
            </a:pPr>
            <a:r>
              <a:rPr lang="en-US" sz="1400" dirty="0">
                <a:solidFill>
                  <a:srgbClr val="3E3B34"/>
                </a:solidFill>
                <a:latin typeface="Calibri" pitchFamily="34" charset="0"/>
                <a:ea typeface="Calibri" pitchFamily="34" charset="-122"/>
                <a:cs typeface="Calibri" pitchFamily="34" charset="-120"/>
              </a:rPr>
              <a:t>The specific, repeatable conditions under which it wins: the buyer, the opening move, the proof, the close.</a:t>
            </a:r>
            <a:endParaRPr lang="en-US" sz="1400" dirty="0"/>
          </a:p>
        </p:txBody>
      </p:sp>
      <p:sp>
        <p:nvSpPr>
          <p:cNvPr id="14" name="Shape 10"/>
          <p:cNvSpPr/>
          <p:nvPr/>
        </p:nvSpPr>
        <p:spPr>
          <a:xfrm>
            <a:off x="8138160" y="1874520"/>
            <a:ext cx="3383280" cy="3703320"/>
          </a:xfrm>
          <a:prstGeom prst="roundRect">
            <a:avLst>
              <a:gd name="adj" fmla="val 2162"/>
            </a:avLst>
          </a:prstGeom>
          <a:solidFill>
            <a:srgbClr val="FCFBF6"/>
          </a:solidFill>
          <a:ln w="12700">
            <a:solidFill>
              <a:srgbClr val="D7D1C2"/>
            </a:solidFill>
            <a:prstDash val="solid"/>
          </a:ln>
          <a:effectLst>
            <a:outerShdw sx="100000" sy="100000" kx="0" ky="0" algn="bl" rotWithShape="0" blurRad="88900" dist="38100" dir="5400000">
              <a:srgbClr val="000000">
                <a:alpha val="12000"/>
              </a:srgbClr>
            </a:outerShdw>
          </a:effectLst>
        </p:spPr>
      </p:sp>
      <p:sp>
        <p:nvSpPr>
          <p:cNvPr id="15" name="Shape 11"/>
          <p:cNvSpPr/>
          <p:nvPr/>
        </p:nvSpPr>
        <p:spPr>
          <a:xfrm>
            <a:off x="8503920" y="2258568"/>
            <a:ext cx="868680" cy="868680"/>
          </a:xfrm>
          <a:prstGeom prst="ellipse">
            <a:avLst/>
          </a:prstGeom>
          <a:solidFill>
            <a:srgbClr val="1C3A52"/>
          </a:solidFill>
          <a:ln/>
        </p:spPr>
      </p:sp>
      <p:pic>
        <p:nvPicPr>
          <p:cNvPr id="16" name="Image 2" descr="preencoded.png">    </p:cNvPr>
          <p:cNvPicPr>
            <a:picLocks noChangeAspect="1"/>
          </p:cNvPicPr>
          <p:nvPr/>
        </p:nvPicPr>
        <p:blipFill>
          <a:blip r:embed="rId3"/>
          <a:stretch>
            <a:fillRect/>
          </a:stretch>
        </p:blipFill>
        <p:spPr>
          <a:xfrm>
            <a:off x="8723376" y="2478024"/>
            <a:ext cx="429768" cy="429768"/>
          </a:xfrm>
          <a:prstGeom prst="rect">
            <a:avLst/>
          </a:prstGeom>
        </p:spPr>
      </p:pic>
      <p:sp>
        <p:nvSpPr>
          <p:cNvPr id="17" name="Text 12"/>
          <p:cNvSpPr/>
          <p:nvPr/>
        </p:nvSpPr>
        <p:spPr>
          <a:xfrm>
            <a:off x="8503920" y="3291840"/>
            <a:ext cx="2651760" cy="777240"/>
          </a:xfrm>
          <a:prstGeom prst="rect">
            <a:avLst/>
          </a:prstGeom>
          <a:noFill/>
          <a:ln/>
        </p:spPr>
        <p:txBody>
          <a:bodyPr wrap="square" lIns="0" tIns="0" rIns="0" bIns="0" rtlCol="0" anchor="t"/>
          <a:lstStyle/>
          <a:p>
            <a:pPr indent="0" marL="0">
              <a:buNone/>
            </a:pPr>
            <a:r>
              <a:rPr lang="en-US" sz="2100" b="1" dirty="0">
                <a:solidFill>
                  <a:srgbClr val="1A1A17"/>
                </a:solidFill>
                <a:latin typeface="Cambria" pitchFamily="34" charset="0"/>
                <a:ea typeface="Cambria" pitchFamily="34" charset="-122"/>
                <a:cs typeface="Cambria" pitchFamily="34" charset="-120"/>
              </a:rPr>
              <a:t>Who is it lethal against?</a:t>
            </a:r>
            <a:endParaRPr lang="en-US" sz="2100" dirty="0"/>
          </a:p>
        </p:txBody>
      </p:sp>
      <p:sp>
        <p:nvSpPr>
          <p:cNvPr id="18" name="Text 13"/>
          <p:cNvSpPr/>
          <p:nvPr/>
        </p:nvSpPr>
        <p:spPr>
          <a:xfrm>
            <a:off x="8503920" y="4023360"/>
            <a:ext cx="2651760" cy="1371600"/>
          </a:xfrm>
          <a:prstGeom prst="rect">
            <a:avLst/>
          </a:prstGeom>
          <a:noFill/>
          <a:ln/>
        </p:spPr>
        <p:txBody>
          <a:bodyPr wrap="square" lIns="0" tIns="0" rIns="0" bIns="0" rtlCol="0" anchor="ctr"/>
          <a:lstStyle/>
          <a:p>
            <a:pPr indent="0" marL="0">
              <a:lnSpc>
                <a:spcPct val="118000"/>
              </a:lnSpc>
              <a:buNone/>
            </a:pPr>
            <a:r>
              <a:rPr lang="en-US" sz="1400" dirty="0">
                <a:solidFill>
                  <a:srgbClr val="3E3B34"/>
                </a:solidFill>
                <a:latin typeface="Calibri" pitchFamily="34" charset="0"/>
                <a:ea typeface="Calibri" pitchFamily="34" charset="-122"/>
                <a:cs typeface="Calibri" pitchFamily="34" charset="-120"/>
              </a:rPr>
              <a:t>The exact buyer and the exact moment it lands hardest — the Head of Trading, the CRO mid-crisis, the Quant.</a:t>
            </a:r>
            <a:endParaRPr lang="en-US" sz="1400" dirty="0"/>
          </a:p>
        </p:txBody>
      </p:sp>
      <p:sp>
        <p:nvSpPr>
          <p:cNvPr id="19" name="Text 14"/>
          <p:cNvSpPr/>
          <p:nvPr/>
        </p:nvSpPr>
        <p:spPr>
          <a:xfrm>
            <a:off x="640080" y="5779008"/>
            <a:ext cx="10881360" cy="365760"/>
          </a:xfrm>
          <a:prstGeom prst="rect">
            <a:avLst/>
          </a:prstGeom>
          <a:noFill/>
          <a:ln/>
        </p:spPr>
        <p:txBody>
          <a:bodyPr wrap="square" lIns="0" tIns="0" rIns="0" bIns="0" rtlCol="0" anchor="ctr"/>
          <a:lstStyle/>
          <a:p>
            <a:pPr algn="ctr" indent="0" marL="0">
              <a:buNone/>
            </a:pPr>
            <a:r>
              <a:rPr lang="en-US" sz="1700" i="1" dirty="0">
                <a:solidFill>
                  <a:srgbClr val="1C3A52"/>
                </a:solidFill>
                <a:latin typeface="Cambria" pitchFamily="34" charset="0"/>
                <a:ea typeface="Cambria" pitchFamily="34" charset="-122"/>
                <a:cs typeface="Cambria" pitchFamily="34" charset="-120"/>
              </a:rPr>
              <a:t>If you cannot name your weapon and its formula, your value to the deal is undefined.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9"/>
        </a:solidFill>
      </p:bgPr>
    </p:bg>
    <p:spTree>
      <p:nvGrpSpPr>
        <p:cNvPr id="1" name=""/>
        <p:cNvGrpSpPr/>
        <p:nvPr/>
      </p:nvGrpSpPr>
      <p:grpSpPr>
        <a:xfrm>
          <a:off x="0" y="0"/>
          <a:ext cx="0" cy="0"/>
          <a:chOff x="0" y="0"/>
          <a:chExt cx="0" cy="0"/>
        </a:xfrm>
      </p:grpSpPr>
      <p:sp>
        <p:nvSpPr>
          <p:cNvPr id="2" name="Shape 0"/>
          <p:cNvSpPr/>
          <p:nvPr/>
        </p:nvSpPr>
        <p:spPr>
          <a:xfrm>
            <a:off x="10424160" y="502920"/>
            <a:ext cx="914400" cy="914400"/>
          </a:xfrm>
          <a:prstGeom prst="ellipse">
            <a:avLst/>
          </a:prstGeom>
          <a:solidFill>
            <a:srgbClr val="ECE7DA"/>
          </a:solidFill>
          <a:ln/>
        </p:spPr>
      </p:sp>
      <p:pic>
        <p:nvPicPr>
          <p:cNvPr id="3" name="Image 0" descr="preencoded.png">    </p:cNvPr>
          <p:cNvPicPr>
            <a:picLocks noChangeAspect="1"/>
          </p:cNvPicPr>
          <p:nvPr/>
        </p:nvPicPr>
        <p:blipFill>
          <a:blip r:embed="rId1"/>
          <a:stretch>
            <a:fillRect/>
          </a:stretch>
        </p:blipFill>
        <p:spPr>
          <a:xfrm>
            <a:off x="10588752" y="667512"/>
            <a:ext cx="585216" cy="585216"/>
          </a:xfrm>
          <a:prstGeom prst="rect">
            <a:avLst/>
          </a:prstGeom>
        </p:spPr>
      </p:pic>
      <p:sp>
        <p:nvSpPr>
          <p:cNvPr id="4" name="Text 1"/>
          <p:cNvSpPr/>
          <p:nvPr/>
        </p:nvSpPr>
        <p:spPr>
          <a:xfrm>
            <a:off x="640080" y="548640"/>
            <a:ext cx="7315200" cy="274320"/>
          </a:xfrm>
          <a:prstGeom prst="rect">
            <a:avLst/>
          </a:prstGeom>
          <a:noFill/>
          <a:ln/>
        </p:spPr>
        <p:txBody>
          <a:bodyPr wrap="square" lIns="0" tIns="0" rIns="0" bIns="0" rtlCol="0" anchor="ctr"/>
          <a:lstStyle/>
          <a:p>
            <a:pPr indent="0" marL="0">
              <a:buNone/>
            </a:pPr>
            <a:r>
              <a:rPr lang="en-US" sz="1100" b="1" spc="300" kern="0" dirty="0">
                <a:solidFill>
                  <a:srgbClr val="8F7647"/>
                </a:solidFill>
                <a:latin typeface="Calibri" pitchFamily="34" charset="0"/>
                <a:ea typeface="Calibri" pitchFamily="34" charset="-122"/>
                <a:cs typeface="Calibri" pitchFamily="34" charset="-120"/>
              </a:rPr>
              <a:t>THE DRILL</a:t>
            </a:r>
            <a:endParaRPr lang="en-US" sz="1100" dirty="0"/>
          </a:p>
        </p:txBody>
      </p:sp>
      <p:sp>
        <p:nvSpPr>
          <p:cNvPr id="5" name="Text 2"/>
          <p:cNvSpPr/>
          <p:nvPr/>
        </p:nvSpPr>
        <p:spPr>
          <a:xfrm>
            <a:off x="640080" y="822960"/>
            <a:ext cx="9144000" cy="640080"/>
          </a:xfrm>
          <a:prstGeom prst="rect">
            <a:avLst/>
          </a:prstGeom>
          <a:noFill/>
          <a:ln/>
        </p:spPr>
        <p:txBody>
          <a:bodyPr wrap="square" lIns="0" tIns="0" rIns="0" bIns="0" rtlCol="0" anchor="ctr"/>
          <a:lstStyle/>
          <a:p>
            <a:pPr indent="0" marL="0">
              <a:buNone/>
            </a:pPr>
            <a:r>
              <a:rPr lang="en-US" sz="3600" b="1" dirty="0">
                <a:solidFill>
                  <a:srgbClr val="1A1A17"/>
                </a:solidFill>
                <a:latin typeface="Cambria" pitchFamily="34" charset="0"/>
                <a:ea typeface="Cambria" pitchFamily="34" charset="-122"/>
                <a:cs typeface="Cambria" pitchFamily="34" charset="-120"/>
              </a:rPr>
              <a:t>Forge the Formula</a:t>
            </a:r>
            <a:endParaRPr lang="en-US" sz="3600" dirty="0"/>
          </a:p>
        </p:txBody>
      </p:sp>
      <p:sp>
        <p:nvSpPr>
          <p:cNvPr id="6" name="Text 3"/>
          <p:cNvSpPr/>
          <p:nvPr/>
        </p:nvSpPr>
        <p:spPr>
          <a:xfrm>
            <a:off x="640080" y="1554480"/>
            <a:ext cx="9509760" cy="365760"/>
          </a:xfrm>
          <a:prstGeom prst="rect">
            <a:avLst/>
          </a:prstGeom>
          <a:noFill/>
          <a:ln/>
        </p:spPr>
        <p:txBody>
          <a:bodyPr wrap="square" lIns="0" tIns="0" rIns="0" bIns="0" rtlCol="0" anchor="ctr"/>
          <a:lstStyle/>
          <a:p>
            <a:pPr indent="0" marL="0">
              <a:buNone/>
            </a:pPr>
            <a:r>
              <a:rPr lang="en-US" sz="1500" i="1" dirty="0">
                <a:solidFill>
                  <a:srgbClr val="7A756A"/>
                </a:solidFill>
                <a:latin typeface="Calibri" pitchFamily="34" charset="0"/>
                <a:ea typeface="Calibri" pitchFamily="34" charset="-122"/>
                <a:cs typeface="Calibri" pitchFamily="34" charset="-120"/>
              </a:rPr>
              <a:t>This week. One weapon, written down and tested in a live deal.</a:t>
            </a:r>
            <a:endParaRPr lang="en-US" sz="1500" dirty="0"/>
          </a:p>
        </p:txBody>
      </p:sp>
      <p:sp>
        <p:nvSpPr>
          <p:cNvPr id="7" name="Shape 4"/>
          <p:cNvSpPr/>
          <p:nvPr/>
        </p:nvSpPr>
        <p:spPr>
          <a:xfrm>
            <a:off x="640080" y="2148840"/>
            <a:ext cx="566928" cy="566928"/>
          </a:xfrm>
          <a:prstGeom prst="ellipse">
            <a:avLst/>
          </a:prstGeom>
          <a:solidFill>
            <a:srgbClr val="1C3A52"/>
          </a:solidFill>
          <a:ln/>
        </p:spPr>
      </p:sp>
      <p:sp>
        <p:nvSpPr>
          <p:cNvPr id="8" name="Text 5"/>
          <p:cNvSpPr/>
          <p:nvPr/>
        </p:nvSpPr>
        <p:spPr>
          <a:xfrm>
            <a:off x="640080" y="2148840"/>
            <a:ext cx="566928" cy="566928"/>
          </a:xfrm>
          <a:prstGeom prst="rect">
            <a:avLst/>
          </a:prstGeom>
          <a:noFill/>
          <a:ln/>
        </p:spPr>
        <p:txBody>
          <a:bodyPr wrap="square" lIns="0" tIns="0" rIns="0" bIns="0" rtlCol="0" anchor="ctr"/>
          <a:lstStyle/>
          <a:p>
            <a:pPr algn="ctr" indent="0" marL="0">
              <a:buNone/>
            </a:pPr>
            <a:r>
              <a:rPr lang="en-US" sz="2200" b="1" dirty="0">
                <a:solidFill>
                  <a:srgbClr val="B0935E"/>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417320" y="2148840"/>
            <a:ext cx="2743200" cy="566928"/>
          </a:xfrm>
          <a:prstGeom prst="rect">
            <a:avLst/>
          </a:prstGeom>
          <a:noFill/>
          <a:ln/>
        </p:spPr>
        <p:txBody>
          <a:bodyPr wrap="square" lIns="0" tIns="0" rIns="0" bIns="0" rtlCol="0" anchor="ctr"/>
          <a:lstStyle/>
          <a:p>
            <a:pPr indent="0" marL="0">
              <a:buNone/>
            </a:pPr>
            <a:r>
              <a:rPr lang="en-US" sz="1800" b="1" dirty="0">
                <a:solidFill>
                  <a:srgbClr val="1A1A17"/>
                </a:solidFill>
                <a:latin typeface="Cambria" pitchFamily="34" charset="0"/>
                <a:ea typeface="Cambria" pitchFamily="34" charset="-122"/>
                <a:cs typeface="Cambria" pitchFamily="34" charset="-120"/>
              </a:rPr>
              <a:t>Pick your weapon</a:t>
            </a:r>
            <a:endParaRPr lang="en-US" sz="1800" dirty="0"/>
          </a:p>
        </p:txBody>
      </p:sp>
      <p:sp>
        <p:nvSpPr>
          <p:cNvPr id="10" name="Text 7"/>
          <p:cNvSpPr/>
          <p:nvPr/>
        </p:nvSpPr>
        <p:spPr>
          <a:xfrm>
            <a:off x="4343400" y="2112264"/>
            <a:ext cx="7178040" cy="640080"/>
          </a:xfrm>
          <a:prstGeom prst="rect">
            <a:avLst/>
          </a:prstGeom>
          <a:noFill/>
          <a:ln/>
        </p:spPr>
        <p:txBody>
          <a:bodyPr wrap="square" lIns="0" tIns="0" rIns="0" bIns="0" rtlCol="0" anchor="ctr"/>
          <a:lstStyle/>
          <a:p>
            <a:pPr indent="0" marL="0">
              <a:lnSpc>
                <a:spcPct val="112000"/>
              </a:lnSpc>
              <a:buNone/>
            </a:pPr>
            <a:r>
              <a:rPr lang="en-US" sz="1350" dirty="0">
                <a:solidFill>
                  <a:srgbClr val="3E3B34"/>
                </a:solidFill>
                <a:latin typeface="Calibri" pitchFamily="34" charset="0"/>
                <a:ea typeface="Calibri" pitchFamily="34" charset="-122"/>
                <a:cs typeface="Calibri" pitchFamily="34" charset="-120"/>
              </a:rPr>
              <a:t>Commit to the one strike you will master this quarter. Not three — one.</a:t>
            </a:r>
            <a:endParaRPr lang="en-US" sz="1350" dirty="0"/>
          </a:p>
        </p:txBody>
      </p:sp>
      <p:sp>
        <p:nvSpPr>
          <p:cNvPr id="11" name="Shape 8"/>
          <p:cNvSpPr/>
          <p:nvPr/>
        </p:nvSpPr>
        <p:spPr>
          <a:xfrm>
            <a:off x="640080" y="2935224"/>
            <a:ext cx="566928" cy="566928"/>
          </a:xfrm>
          <a:prstGeom prst="ellipse">
            <a:avLst/>
          </a:prstGeom>
          <a:solidFill>
            <a:srgbClr val="1C3A52"/>
          </a:solidFill>
          <a:ln/>
        </p:spPr>
      </p:sp>
      <p:sp>
        <p:nvSpPr>
          <p:cNvPr id="12" name="Text 9"/>
          <p:cNvSpPr/>
          <p:nvPr/>
        </p:nvSpPr>
        <p:spPr>
          <a:xfrm>
            <a:off x="640080" y="2935224"/>
            <a:ext cx="566928" cy="566928"/>
          </a:xfrm>
          <a:prstGeom prst="rect">
            <a:avLst/>
          </a:prstGeom>
          <a:noFill/>
          <a:ln/>
        </p:spPr>
        <p:txBody>
          <a:bodyPr wrap="square" lIns="0" tIns="0" rIns="0" bIns="0" rtlCol="0" anchor="ctr"/>
          <a:lstStyle/>
          <a:p>
            <a:pPr algn="ctr" indent="0" marL="0">
              <a:buNone/>
            </a:pPr>
            <a:r>
              <a:rPr lang="en-US" sz="2200" b="1" dirty="0">
                <a:solidFill>
                  <a:srgbClr val="B0935E"/>
                </a:solidFill>
                <a:latin typeface="Cambria" pitchFamily="34" charset="0"/>
                <a:ea typeface="Cambria" pitchFamily="34" charset="-122"/>
                <a:cs typeface="Cambria" pitchFamily="34" charset="-120"/>
              </a:rPr>
              <a:t>2</a:t>
            </a:r>
            <a:endParaRPr lang="en-US" sz="2200" dirty="0"/>
          </a:p>
        </p:txBody>
      </p:sp>
      <p:sp>
        <p:nvSpPr>
          <p:cNvPr id="13" name="Text 10"/>
          <p:cNvSpPr/>
          <p:nvPr/>
        </p:nvSpPr>
        <p:spPr>
          <a:xfrm>
            <a:off x="1417320" y="2935224"/>
            <a:ext cx="2743200" cy="566928"/>
          </a:xfrm>
          <a:prstGeom prst="rect">
            <a:avLst/>
          </a:prstGeom>
          <a:noFill/>
          <a:ln/>
        </p:spPr>
        <p:txBody>
          <a:bodyPr wrap="square" lIns="0" tIns="0" rIns="0" bIns="0" rtlCol="0" anchor="ctr"/>
          <a:lstStyle/>
          <a:p>
            <a:pPr indent="0" marL="0">
              <a:buNone/>
            </a:pPr>
            <a:r>
              <a:rPr lang="en-US" sz="1800" b="1" dirty="0">
                <a:solidFill>
                  <a:srgbClr val="1A1A17"/>
                </a:solidFill>
                <a:latin typeface="Cambria" pitchFamily="34" charset="0"/>
                <a:ea typeface="Cambria" pitchFamily="34" charset="-122"/>
                <a:cs typeface="Cambria" pitchFamily="34" charset="-120"/>
              </a:rPr>
              <a:t>Write the formula</a:t>
            </a:r>
            <a:endParaRPr lang="en-US" sz="1800" dirty="0"/>
          </a:p>
        </p:txBody>
      </p:sp>
      <p:sp>
        <p:nvSpPr>
          <p:cNvPr id="14" name="Text 11"/>
          <p:cNvSpPr/>
          <p:nvPr/>
        </p:nvSpPr>
        <p:spPr>
          <a:xfrm>
            <a:off x="4343400" y="2898648"/>
            <a:ext cx="7178040" cy="640080"/>
          </a:xfrm>
          <a:prstGeom prst="rect">
            <a:avLst/>
          </a:prstGeom>
          <a:noFill/>
          <a:ln/>
        </p:spPr>
        <p:txBody>
          <a:bodyPr wrap="square" lIns="0" tIns="0" rIns="0" bIns="0" rtlCol="0" anchor="ctr"/>
          <a:lstStyle/>
          <a:p>
            <a:pPr indent="0" marL="0">
              <a:lnSpc>
                <a:spcPct val="112000"/>
              </a:lnSpc>
              <a:buNone/>
            </a:pPr>
            <a:r>
              <a:rPr lang="en-US" sz="1350" dirty="0">
                <a:solidFill>
                  <a:srgbClr val="3E3B34"/>
                </a:solidFill>
                <a:latin typeface="Calibri" pitchFamily="34" charset="0"/>
                <a:ea typeface="Calibri" pitchFamily="34" charset="-122"/>
                <a:cs typeface="Calibri" pitchFamily="34" charset="-120"/>
              </a:rPr>
              <a:t>One sentence: when I do X to buyer Y, I produce outcome Z. Make it specific enough to repeat.</a:t>
            </a:r>
            <a:endParaRPr lang="en-US" sz="1350" dirty="0"/>
          </a:p>
        </p:txBody>
      </p:sp>
      <p:sp>
        <p:nvSpPr>
          <p:cNvPr id="15" name="Shape 12"/>
          <p:cNvSpPr/>
          <p:nvPr/>
        </p:nvSpPr>
        <p:spPr>
          <a:xfrm>
            <a:off x="640080" y="3721608"/>
            <a:ext cx="566928" cy="566928"/>
          </a:xfrm>
          <a:prstGeom prst="ellipse">
            <a:avLst/>
          </a:prstGeom>
          <a:solidFill>
            <a:srgbClr val="1C3A52"/>
          </a:solidFill>
          <a:ln/>
        </p:spPr>
      </p:sp>
      <p:sp>
        <p:nvSpPr>
          <p:cNvPr id="16" name="Text 13"/>
          <p:cNvSpPr/>
          <p:nvPr/>
        </p:nvSpPr>
        <p:spPr>
          <a:xfrm>
            <a:off x="640080" y="3721608"/>
            <a:ext cx="566928" cy="566928"/>
          </a:xfrm>
          <a:prstGeom prst="rect">
            <a:avLst/>
          </a:prstGeom>
          <a:noFill/>
          <a:ln/>
        </p:spPr>
        <p:txBody>
          <a:bodyPr wrap="square" lIns="0" tIns="0" rIns="0" bIns="0" rtlCol="0" anchor="ctr"/>
          <a:lstStyle/>
          <a:p>
            <a:pPr algn="ctr" indent="0" marL="0">
              <a:buNone/>
            </a:pPr>
            <a:r>
              <a:rPr lang="en-US" sz="2200" b="1" dirty="0">
                <a:solidFill>
                  <a:srgbClr val="B0935E"/>
                </a:solidFill>
                <a:latin typeface="Cambria" pitchFamily="34" charset="0"/>
                <a:ea typeface="Cambria" pitchFamily="34" charset="-122"/>
                <a:cs typeface="Cambria" pitchFamily="34" charset="-120"/>
              </a:rPr>
              <a:t>3</a:t>
            </a:r>
            <a:endParaRPr lang="en-US" sz="2200" dirty="0"/>
          </a:p>
        </p:txBody>
      </p:sp>
      <p:sp>
        <p:nvSpPr>
          <p:cNvPr id="17" name="Text 14"/>
          <p:cNvSpPr/>
          <p:nvPr/>
        </p:nvSpPr>
        <p:spPr>
          <a:xfrm>
            <a:off x="1417320" y="3721608"/>
            <a:ext cx="2743200" cy="566928"/>
          </a:xfrm>
          <a:prstGeom prst="rect">
            <a:avLst/>
          </a:prstGeom>
          <a:noFill/>
          <a:ln/>
        </p:spPr>
        <p:txBody>
          <a:bodyPr wrap="square" lIns="0" tIns="0" rIns="0" bIns="0" rtlCol="0" anchor="ctr"/>
          <a:lstStyle/>
          <a:p>
            <a:pPr indent="0" marL="0">
              <a:buNone/>
            </a:pPr>
            <a:r>
              <a:rPr lang="en-US" sz="1800" b="1" dirty="0">
                <a:solidFill>
                  <a:srgbClr val="1A1A17"/>
                </a:solidFill>
                <a:latin typeface="Cambria" pitchFamily="34" charset="0"/>
                <a:ea typeface="Cambria" pitchFamily="34" charset="-122"/>
                <a:cs typeface="Cambria" pitchFamily="34" charset="-120"/>
              </a:rPr>
              <a:t>Build the proof</a:t>
            </a:r>
            <a:endParaRPr lang="en-US" sz="1800" dirty="0"/>
          </a:p>
        </p:txBody>
      </p:sp>
      <p:sp>
        <p:nvSpPr>
          <p:cNvPr id="18" name="Text 15"/>
          <p:cNvSpPr/>
          <p:nvPr/>
        </p:nvSpPr>
        <p:spPr>
          <a:xfrm>
            <a:off x="4343400" y="3685032"/>
            <a:ext cx="7178040" cy="640080"/>
          </a:xfrm>
          <a:prstGeom prst="rect">
            <a:avLst/>
          </a:prstGeom>
          <a:noFill/>
          <a:ln/>
        </p:spPr>
        <p:txBody>
          <a:bodyPr wrap="square" lIns="0" tIns="0" rIns="0" bIns="0" rtlCol="0" anchor="ctr"/>
          <a:lstStyle/>
          <a:p>
            <a:pPr indent="0" marL="0">
              <a:lnSpc>
                <a:spcPct val="112000"/>
              </a:lnSpc>
              <a:buNone/>
            </a:pPr>
            <a:r>
              <a:rPr lang="en-US" sz="1350" dirty="0">
                <a:solidFill>
                  <a:srgbClr val="3E3B34"/>
                </a:solidFill>
                <a:latin typeface="Calibri" pitchFamily="34" charset="0"/>
                <a:ea typeface="Calibri" pitchFamily="34" charset="-122"/>
                <a:cs typeface="Calibri" pitchFamily="34" charset="-120"/>
              </a:rPr>
              <a:t>Assemble what the weapon needs: the quantified insight, the tailored demo, or the reference relationship.</a:t>
            </a:r>
            <a:endParaRPr lang="en-US" sz="1350" dirty="0"/>
          </a:p>
        </p:txBody>
      </p:sp>
      <p:sp>
        <p:nvSpPr>
          <p:cNvPr id="19" name="Shape 16"/>
          <p:cNvSpPr/>
          <p:nvPr/>
        </p:nvSpPr>
        <p:spPr>
          <a:xfrm>
            <a:off x="640080" y="4507992"/>
            <a:ext cx="566928" cy="566928"/>
          </a:xfrm>
          <a:prstGeom prst="ellipse">
            <a:avLst/>
          </a:prstGeom>
          <a:solidFill>
            <a:srgbClr val="1C3A52"/>
          </a:solidFill>
          <a:ln/>
        </p:spPr>
      </p:sp>
      <p:sp>
        <p:nvSpPr>
          <p:cNvPr id="20" name="Text 17"/>
          <p:cNvSpPr/>
          <p:nvPr/>
        </p:nvSpPr>
        <p:spPr>
          <a:xfrm>
            <a:off x="640080" y="4507992"/>
            <a:ext cx="566928" cy="566928"/>
          </a:xfrm>
          <a:prstGeom prst="rect">
            <a:avLst/>
          </a:prstGeom>
          <a:noFill/>
          <a:ln/>
        </p:spPr>
        <p:txBody>
          <a:bodyPr wrap="square" lIns="0" tIns="0" rIns="0" bIns="0" rtlCol="0" anchor="ctr"/>
          <a:lstStyle/>
          <a:p>
            <a:pPr algn="ctr" indent="0" marL="0">
              <a:buNone/>
            </a:pPr>
            <a:r>
              <a:rPr lang="en-US" sz="2200" b="1" dirty="0">
                <a:solidFill>
                  <a:srgbClr val="B0935E"/>
                </a:solidFill>
                <a:latin typeface="Cambria" pitchFamily="34" charset="0"/>
                <a:ea typeface="Cambria" pitchFamily="34" charset="-122"/>
                <a:cs typeface="Cambria" pitchFamily="34" charset="-120"/>
              </a:rPr>
              <a:t>4</a:t>
            </a:r>
            <a:endParaRPr lang="en-US" sz="2200" dirty="0"/>
          </a:p>
        </p:txBody>
      </p:sp>
      <p:sp>
        <p:nvSpPr>
          <p:cNvPr id="21" name="Text 18"/>
          <p:cNvSpPr/>
          <p:nvPr/>
        </p:nvSpPr>
        <p:spPr>
          <a:xfrm>
            <a:off x="1417320" y="4507992"/>
            <a:ext cx="2743200" cy="566928"/>
          </a:xfrm>
          <a:prstGeom prst="rect">
            <a:avLst/>
          </a:prstGeom>
          <a:noFill/>
          <a:ln/>
        </p:spPr>
        <p:txBody>
          <a:bodyPr wrap="square" lIns="0" tIns="0" rIns="0" bIns="0" rtlCol="0" anchor="ctr"/>
          <a:lstStyle/>
          <a:p>
            <a:pPr indent="0" marL="0">
              <a:buNone/>
            </a:pPr>
            <a:r>
              <a:rPr lang="en-US" sz="1800" b="1" dirty="0">
                <a:solidFill>
                  <a:srgbClr val="1A1A17"/>
                </a:solidFill>
                <a:latin typeface="Cambria" pitchFamily="34" charset="0"/>
                <a:ea typeface="Cambria" pitchFamily="34" charset="-122"/>
                <a:cs typeface="Cambria" pitchFamily="34" charset="-120"/>
              </a:rPr>
              <a:t>Test it live</a:t>
            </a:r>
            <a:endParaRPr lang="en-US" sz="1800" dirty="0"/>
          </a:p>
        </p:txBody>
      </p:sp>
      <p:sp>
        <p:nvSpPr>
          <p:cNvPr id="22" name="Text 19"/>
          <p:cNvSpPr/>
          <p:nvPr/>
        </p:nvSpPr>
        <p:spPr>
          <a:xfrm>
            <a:off x="4343400" y="4471416"/>
            <a:ext cx="7178040" cy="640080"/>
          </a:xfrm>
          <a:prstGeom prst="rect">
            <a:avLst/>
          </a:prstGeom>
          <a:noFill/>
          <a:ln/>
        </p:spPr>
        <p:txBody>
          <a:bodyPr wrap="square" lIns="0" tIns="0" rIns="0" bIns="0" rtlCol="0" anchor="ctr"/>
          <a:lstStyle/>
          <a:p>
            <a:pPr indent="0" marL="0">
              <a:lnSpc>
                <a:spcPct val="112000"/>
              </a:lnSpc>
              <a:buNone/>
            </a:pPr>
            <a:r>
              <a:rPr lang="en-US" sz="1350" dirty="0">
                <a:solidFill>
                  <a:srgbClr val="3E3B34"/>
                </a:solidFill>
                <a:latin typeface="Calibri" pitchFamily="34" charset="0"/>
                <a:ea typeface="Calibri" pitchFamily="34" charset="-122"/>
                <a:cs typeface="Calibri" pitchFamily="34" charset="-120"/>
              </a:rPr>
              <a:t>Use it in one real deal this week and record exactly what happened — what landed, what missed.</a:t>
            </a:r>
            <a:endParaRPr lang="en-US" sz="1350" dirty="0"/>
          </a:p>
        </p:txBody>
      </p:sp>
      <p:sp>
        <p:nvSpPr>
          <p:cNvPr id="23" name="Shape 20"/>
          <p:cNvSpPr/>
          <p:nvPr/>
        </p:nvSpPr>
        <p:spPr>
          <a:xfrm>
            <a:off x="640080" y="5715000"/>
            <a:ext cx="10881360" cy="713232"/>
          </a:xfrm>
          <a:prstGeom prst="roundRect">
            <a:avLst>
              <a:gd name="adj" fmla="val 8974"/>
            </a:avLst>
          </a:prstGeom>
          <a:solidFill>
            <a:srgbClr val="1C3A52"/>
          </a:solidFill>
          <a:ln/>
        </p:spPr>
      </p:sp>
      <p:sp>
        <p:nvSpPr>
          <p:cNvPr id="24" name="Text 21"/>
          <p:cNvSpPr/>
          <p:nvPr/>
        </p:nvSpPr>
        <p:spPr>
          <a:xfrm>
            <a:off x="1005840" y="5715000"/>
            <a:ext cx="10149840" cy="713232"/>
          </a:xfrm>
          <a:prstGeom prst="rect">
            <a:avLst/>
          </a:prstGeom>
          <a:noFill/>
          <a:ln/>
        </p:spPr>
        <p:txBody>
          <a:bodyPr wrap="square" lIns="0" tIns="0" rIns="0" bIns="0" rtlCol="0" anchor="ctr"/>
          <a:lstStyle/>
          <a:p>
            <a:pPr indent="0" marL="0">
              <a:buNone/>
            </a:pPr>
            <a:r>
              <a:rPr lang="en-US" sz="1100" b="1" spc="200" kern="0" dirty="0">
                <a:solidFill>
                  <a:srgbClr val="B0935E"/>
                </a:solidFill>
                <a:latin typeface="Calibri" pitchFamily="34" charset="0"/>
                <a:ea typeface="Calibri" pitchFamily="34" charset="-122"/>
                <a:cs typeface="Calibri" pitchFamily="34" charset="-120"/>
              </a:rPr>
              <a:t>DELIVERABLE   </a:t>
            </a:r>
            <a:pPr indent="0" marL="0">
              <a:buNone/>
            </a:pPr>
            <a:r>
              <a:rPr lang="en-US" sz="1450" dirty="0">
                <a:solidFill>
                  <a:srgbClr val="F1ECE0"/>
                </a:solidFill>
                <a:latin typeface="Calibri" pitchFamily="34" charset="0"/>
                <a:ea typeface="Calibri" pitchFamily="34" charset="-122"/>
                <a:cs typeface="Calibri" pitchFamily="34" charset="-120"/>
              </a:rPr>
              <a:t>your weapon, its formula in one sentence, and one live test — by Friday.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83A"/>
        </a:solidFill>
      </p:bgPr>
    </p:bg>
    <p:spTree>
      <p:nvGrpSpPr>
        <p:cNvPr id="1" name=""/>
        <p:cNvGrpSpPr/>
        <p:nvPr/>
      </p:nvGrpSpPr>
      <p:grpSpPr>
        <a:xfrm>
          <a:off x="0" y="0"/>
          <a:ext cx="0" cy="0"/>
          <a:chOff x="0" y="0"/>
          <a:chExt cx="0" cy="0"/>
        </a:xfrm>
      </p:grpSpPr>
      <p:sp>
        <p:nvSpPr>
          <p:cNvPr id="2" name="Shape 0"/>
          <p:cNvSpPr/>
          <p:nvPr/>
        </p:nvSpPr>
        <p:spPr>
          <a:xfrm>
            <a:off x="5532120" y="1234440"/>
            <a:ext cx="1097280" cy="1097280"/>
          </a:xfrm>
          <a:prstGeom prst="ellipse">
            <a:avLst/>
          </a:prstGeom>
          <a:solidFill>
            <a:srgbClr val="13283A"/>
          </a:solidFill>
          <a:ln w="19050">
            <a:solidFill>
              <a:srgbClr val="B0935E"/>
            </a:solidFill>
            <a:prstDash val="solid"/>
          </a:ln>
        </p:spPr>
      </p:sp>
      <p:pic>
        <p:nvPicPr>
          <p:cNvPr id="3" name="Image 0" descr="preencoded.png">    </p:cNvPr>
          <p:cNvPicPr>
            <a:picLocks noChangeAspect="1"/>
          </p:cNvPicPr>
          <p:nvPr/>
        </p:nvPicPr>
        <p:blipFill>
          <a:blip r:embed="rId1"/>
          <a:stretch>
            <a:fillRect/>
          </a:stretch>
        </p:blipFill>
        <p:spPr>
          <a:xfrm>
            <a:off x="5833872" y="1536192"/>
            <a:ext cx="493776" cy="493776"/>
          </a:xfrm>
          <a:prstGeom prst="rect">
            <a:avLst/>
          </a:prstGeom>
        </p:spPr>
      </p:pic>
      <p:sp>
        <p:nvSpPr>
          <p:cNvPr id="4" name="Text 1"/>
          <p:cNvSpPr/>
          <p:nvPr/>
        </p:nvSpPr>
        <p:spPr>
          <a:xfrm>
            <a:off x="914400" y="2651760"/>
            <a:ext cx="10332720" cy="109728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Be unforgettable at one thing.</a:t>
            </a:r>
            <a:endParaRPr lang="en-US" sz="5000" dirty="0"/>
          </a:p>
        </p:txBody>
      </p:sp>
      <p:sp>
        <p:nvSpPr>
          <p:cNvPr id="5" name="Text 2"/>
          <p:cNvSpPr/>
          <p:nvPr/>
        </p:nvSpPr>
        <p:spPr>
          <a:xfrm>
            <a:off x="1828800" y="4023360"/>
            <a:ext cx="8503920" cy="731520"/>
          </a:xfrm>
          <a:prstGeom prst="rect">
            <a:avLst/>
          </a:prstGeom>
          <a:noFill/>
          <a:ln/>
        </p:spPr>
        <p:txBody>
          <a:bodyPr wrap="square" lIns="0" tIns="0" rIns="0" bIns="0" rtlCol="0" anchor="ctr"/>
          <a:lstStyle/>
          <a:p>
            <a:pPr algn="ctr" indent="0" marL="0">
              <a:lnSpc>
                <a:spcPct val="120000"/>
              </a:lnSpc>
              <a:buNone/>
            </a:pPr>
            <a:r>
              <a:rPr lang="en-US" sz="1600" dirty="0">
                <a:solidFill>
                  <a:srgbClr val="D9D3C5"/>
                </a:solidFill>
                <a:latin typeface="Calibri" pitchFamily="34" charset="0"/>
                <a:ea typeface="Calibri" pitchFamily="34" charset="-122"/>
                <a:cs typeface="Calibri" pitchFamily="34" charset="-120"/>
              </a:rPr>
              <a:t>Next — Lesson 03: Formulaic Reproducibility. Turning one win into a repeatable machine.</a:t>
            </a:r>
            <a:endParaRPr lang="en-US" sz="1600" dirty="0"/>
          </a:p>
        </p:txBody>
      </p:sp>
      <p:sp>
        <p:nvSpPr>
          <p:cNvPr id="6" name="Text 3"/>
          <p:cNvSpPr/>
          <p:nvPr/>
        </p:nvSpPr>
        <p:spPr>
          <a:xfrm>
            <a:off x="914400" y="6126480"/>
            <a:ext cx="10332720" cy="274320"/>
          </a:xfrm>
          <a:prstGeom prst="rect">
            <a:avLst/>
          </a:prstGeom>
          <a:noFill/>
          <a:ln/>
        </p:spPr>
        <p:txBody>
          <a:bodyPr wrap="square" lIns="0" tIns="0" rIns="0" bIns="0" rtlCol="0" anchor="ctr"/>
          <a:lstStyle/>
          <a:p>
            <a:pPr algn="ctr" indent="0" marL="0">
              <a:buNone/>
            </a:pPr>
            <a:r>
              <a:rPr lang="en-US" sz="1000" b="1" spc="300" kern="0" dirty="0">
                <a:solidFill>
                  <a:srgbClr val="B0935E"/>
                </a:solidFill>
                <a:latin typeface="Calibri" pitchFamily="34" charset="0"/>
                <a:ea typeface="Calibri" pitchFamily="34" charset="-122"/>
                <a:cs typeface="Calibri" pitchFamily="34" charset="-120"/>
              </a:rPr>
              <a:t>BRUNTSFIELD CAPITAL  ·  ADVISORY  ·  THE SALES EGOIST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Sales Egoist — Lesson 02: Your Unfair Advantage</dc:title>
  <dc:subject>PptxGenJS Presentation</dc:subject>
  <dc:creator>Bruntsfield Capital — Advisory</dc:creator>
  <cp:lastModifiedBy>Bruntsfield Capital — Advisory</cp:lastModifiedBy>
  <cp:revision>1</cp:revision>
  <dcterms:created xsi:type="dcterms:W3CDTF">2026-06-23T02:56:31Z</dcterms:created>
  <dcterms:modified xsi:type="dcterms:W3CDTF">2026-06-23T02:56:31Z</dcterms:modified>
</cp:coreProperties>
</file>