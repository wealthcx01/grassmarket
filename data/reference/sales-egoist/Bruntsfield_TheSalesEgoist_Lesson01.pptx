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programme. Our doctrine is self-authored selling: the seller does not wait to be chosen, they author the outcome. Lesson 1 establishes the foundation — revenue is finite and contested, and passivity quietly forfeits your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arc of the programme. We are at the very beginning.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core. The enemy is not the competitor; it is the slow drift into passivity. Many experienced sellers are more capable than their current behaviour shows. The goal of the programme is to wake that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loss as irreversible. A declined or half-pursued deal is not neutral — it arms a competitor and freezes the budget for years. That reframing is what makes deliberate, early action rational rather than aggressive.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disciplines of the principal seller. Each is the opposite of a passive habit: own outcomes not motion, initiate rather than wait, and decide rather than defer.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line by line. The point is recognition: most experienced sellers see themselves drifting into the left column. The right column is not a personality — it is a set of choices anyone can make starting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with intent. The exercise forces the full shift on one real account in a week: stop covering, find the friction, build a tangible reason, and initiate the conversation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Behaviour follows measurement. Reward activity and you get busy placeholders. Reward initiated conversations, displaced budget and buyer reach, and you get principals.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single idea: the seller who waits is chosen last, if at all. The principal authors the outcome. Tee up lesson two — defining your weapon.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BRUNTSFIELD CAPITAL  ·  ADVISORY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1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EGOIST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8595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72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Zero-Sum</a:t>
            </a:r>
            <a:endParaRPr lang="en-US" sz="7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72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of 08. 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Bruntsfield doctrine for sellers who refuse to be placeholders.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09760" y="1828800"/>
            <a:ext cx="2286000" cy="2286000"/>
          </a:xfrm>
          <a:prstGeom prst="ellipse">
            <a:avLst/>
          </a:prstGeom>
          <a:solidFill>
            <a:srgbClr val="F4F1E9"/>
          </a:solidFill>
          <a:ln w="19050">
            <a:solidFill>
              <a:srgbClr val="D7D1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2286000"/>
            <a:ext cx="1371600" cy="1371600"/>
          </a:xfrm>
          <a:prstGeom prst="ellipse">
            <a:avLst/>
          </a:prstGeom>
          <a:solidFill>
            <a:srgbClr val="F4F1E9"/>
          </a:solidFill>
          <a:ln w="19050">
            <a:solidFill>
              <a:srgbClr val="B093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60604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5256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BUDGET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Selections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lesson takes one principle of self-authored selling and forges it into a repeatable discipline — then puts the full modern arsenal behind 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 — The First Selection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715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Deconstruct the seller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1C3A52"/>
          </a:solidFill>
          <a:ln w="12700">
            <a:solidFill>
              <a:srgbClr val="1C3A5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1089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9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3108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Zero-Sum Pipeline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35295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09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3950208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502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950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Unfair Advantage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91456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7914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47914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Formulaic Reproducibility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32704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563270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17320" y="563270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Prospect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 — The Second Selection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0" y="2715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of joint execution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3108960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31089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108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Multi-Thread the Committee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0" y="3950208"/>
            <a:ext cx="365760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9502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3950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Luck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50392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III — The Peak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503920" y="27157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sales psychology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503920" y="3108960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41080" y="310896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281160" y="310896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of Discovery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503920" y="3950208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41080" y="39502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281160" y="395020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Account Awareness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328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9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AWAKENING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sellers have gone passive.</a:t>
            </a:r>
            <a:endParaRPr lang="en-US" sz="4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551383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9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Self-authored selling.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577840" y="1143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in a long career, selling quietly became waiting — for the inbound lead, for the RFP, for the relationship to mature on its own.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577840" y="27432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000" i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seller who waits becomes a placeholder. Interchangeable, and easily replaced.”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577840" y="50292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C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programme is for the other kind: the seller who authors the outcome — and the potential that has been sitting dormant inside a comfortable career.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Zero-Sum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C3A5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9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1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budget is finite and contested. A multi-year contract won by a rival removes that spend for years.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074920" cy="2148840"/>
          </a:xfrm>
          <a:prstGeom prst="roundRect">
            <a:avLst>
              <a:gd name="adj" fmla="val 3404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2487168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neutral outcome. The deal you decline to pursue quietly funds someone else's roadmap.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 </a:t>
            </a:r>
            <a:pPr indent="0" marL="0">
              <a:buNone/>
            </a:pPr>
            <a:r>
              <a:rPr lang="en-US" sz="2600" b="1" dirty="0">
                <a:solidFill>
                  <a:srgbClr val="8F76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yrs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3383280" y="457200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A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competitor's win locks you out of an account. The placeholder calls this “the market.” The principal calls it a position to be taken.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Number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58568"/>
            <a:ext cx="868680" cy="868680"/>
          </a:xfrm>
          <a:prstGeom prst="ellipse">
            <a:avLst/>
          </a:prstGeom>
          <a:solidFill>
            <a:srgbClr val="1C3A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478024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the number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05840" y="40233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yourself by outcomes held, not activity logged. The number is yours to author before anyone assigns it to you.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258568"/>
            <a:ext cx="868680" cy="868680"/>
          </a:xfrm>
          <a:prstGeom prst="ellipse">
            <a:avLst/>
          </a:prstGeom>
          <a:solidFill>
            <a:srgbClr val="1C3A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478024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first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754880" y="40233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wait to be invited into the deal. Create the reason to engage before the RFP exists, on your timeline.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383280" cy="4343400"/>
          </a:xfrm>
          <a:prstGeom prst="roundRect">
            <a:avLst>
              <a:gd name="adj" fmla="val 2162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2258568"/>
            <a:ext cx="868680" cy="868680"/>
          </a:xfrm>
          <a:prstGeom prst="ellipse">
            <a:avLst/>
          </a:prstGeom>
          <a:solidFill>
            <a:srgbClr val="1C3A5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2478024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291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503920" y="40233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Hesitation dressed up as politeness is how capable sellers quietly disappear. Commit in the moment that matters.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Placeholder to Principal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CE7D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46520" y="18288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1C3A5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PLACEHOLDER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12280" y="21031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9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inbound and RFPs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812280" y="27432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the reason to engage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3649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Hopes relationships mature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812280" y="33649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trust into real leverage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39867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activity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812280" y="3986784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territory taken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46085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on the buyer's timeline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12280" y="4608576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timeline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05840" y="52303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interchangeable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12280" y="52303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irreplaceable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02920"/>
            <a:ext cx="914400" cy="914400"/>
          </a:xfrm>
          <a:prstGeom prst="ellipse">
            <a:avLst/>
          </a:prstGeom>
          <a:solidFill>
            <a:srgbClr val="ECE7D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667512"/>
            <a:ext cx="585216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DRILL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Reclaim One Account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A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week. One account you have been quietly covering, worked with intent.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1C3A5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9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17320" y="2148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account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43400" y="2112264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account you have been passively “covering” — served by a competitor, or simply stagnating.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935224"/>
            <a:ext cx="566928" cy="566928"/>
          </a:xfrm>
          <a:prstGeom prst="ellipse">
            <a:avLst/>
          </a:prstGeom>
          <a:solidFill>
            <a:srgbClr val="1C3A52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935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9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17320" y="29352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friction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343400" y="2898648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specific, costly problem the incumbent is not solving: latency, settlement risk, manual reconciliation.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40080" y="3721608"/>
            <a:ext cx="566928" cy="566928"/>
          </a:xfrm>
          <a:prstGeom prst="ellipse">
            <a:avLst/>
          </a:prstGeom>
          <a:solidFill>
            <a:srgbClr val="1C3A52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721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9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417320" y="37216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reason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343400" y="3685032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one tailored insight or working demo that makes the better outcome tangible — in their context, not a generic deck.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4507992"/>
            <a:ext cx="566928" cy="566928"/>
          </a:xfrm>
          <a:prstGeom prst="ellipse">
            <a:avLst/>
          </a:prstGeom>
          <a:solidFill>
            <a:srgbClr val="1C3A52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507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93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417320" y="45079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343400" y="4471416"/>
            <a:ext cx="7178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decision-maker this week. You start the conversation; you do not wait to be invited into it.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715000"/>
            <a:ext cx="10881360" cy="713232"/>
          </a:xfrm>
          <a:prstGeom prst="roundRect">
            <a:avLst>
              <a:gd name="adj" fmla="val 8974"/>
            </a:avLst>
          </a:prstGeom>
          <a:solidFill>
            <a:srgbClr val="1C3A52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571500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09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 </a:t>
            </a:r>
            <a:pPr indent="0" marL="0">
              <a:buNone/>
            </a:pPr>
            <a:r>
              <a:rPr lang="en-US" sz="1450" dirty="0">
                <a:solidFill>
                  <a:srgbClr val="F1E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you stopped covering and started pursuing — by Friday.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502920"/>
            <a:ext cx="914400" cy="914400"/>
          </a:xfrm>
          <a:prstGeom prst="ellipse">
            <a:avLst/>
          </a:prstGeom>
          <a:solidFill>
            <a:srgbClr val="ECE7D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667512"/>
            <a:ext cx="585216" cy="5852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7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Outcomes, Not Motion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166360" cy="1463040"/>
          </a:xfrm>
          <a:prstGeom prst="roundRect">
            <a:avLst>
              <a:gd name="adj" fmla="val 4375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60120" y="23682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pursued vs. covered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072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accounts you actively moved on — not simply held in a territory list.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2148840"/>
            <a:ext cx="5166360" cy="1463040"/>
          </a:xfrm>
          <a:prstGeom prst="roundRect">
            <a:avLst>
              <a:gd name="adj" fmla="val 4375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236829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Conversations you initiated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75120" y="280720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you started, not ones that arrived inbound or through an RFP.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794760"/>
            <a:ext cx="5166360" cy="1463040"/>
          </a:xfrm>
          <a:prstGeom prst="roundRect">
            <a:avLst>
              <a:gd name="adj" fmla="val 4375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60120" y="40142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displaced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60120" y="44531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pulled off a competitor and onto your roadmap.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355080" y="3794760"/>
            <a:ext cx="5166360" cy="1463040"/>
          </a:xfrm>
          <a:prstGeom prst="roundRect">
            <a:avLst>
              <a:gd name="adj" fmla="val 4375"/>
            </a:avLst>
          </a:prstGeom>
          <a:solidFill>
            <a:srgbClr val="FCFBF6"/>
          </a:solidFill>
          <a:ln w="12700">
            <a:solidFill>
              <a:srgbClr val="D7D1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675120" y="401421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Decision-makers reached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6675120" y="44531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E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you reached the buyer directly, not a gatekeeper.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553212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CE7DA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553212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7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Placeholder metric: </a:t>
            </a:r>
            <a:pPr indent="0" marL="0">
              <a:buNone/>
            </a:pPr>
            <a:r>
              <a:rPr lang="en-US" sz="1900" dirty="0">
                <a:solidFill>
                  <a:srgbClr val="3E3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activity.    </a:t>
            </a:r>
            <a:pPr indent="0" marL="0">
              <a:buNone/>
            </a:pPr>
            <a:r>
              <a:rPr lang="en-US" sz="1900" b="1" dirty="0">
                <a:solidFill>
                  <a:srgbClr val="1C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metric: </a:t>
            </a:r>
            <a:pPr indent="0" marL="0">
              <a:buNone/>
            </a:pPr>
            <a:r>
              <a:rPr lang="en-US" sz="1900" dirty="0">
                <a:solidFill>
                  <a:srgbClr val="1A1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you authored.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8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234440"/>
            <a:ext cx="1097280" cy="1097280"/>
          </a:xfrm>
          <a:prstGeom prst="ellipse">
            <a:avLst/>
          </a:prstGeom>
          <a:solidFill>
            <a:srgbClr val="13283A"/>
          </a:solidFill>
          <a:ln w="19050">
            <a:solidFill>
              <a:srgbClr val="B093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872" y="1536192"/>
            <a:ext cx="493776" cy="493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waiting to be chosen.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Lesson 02: Your Unfair Advantage. The one weapon that makes your value impossible to ignore.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B093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BRUNTSFIELD CAPITAL  ·  ADVISORY  ·  THE SALES EGOIST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Sales Egoist — Lesson 01: The Zero-Sum Pipeline</dc:title>
  <dc:subject>PptxGenJS Presentation</dc:subject>
  <dc:creator>Bruntsfield Capital — Advisory</dc:creator>
  <cp:lastModifiedBy>Bruntsfield Capital — Advisory</cp:lastModifiedBy>
  <cp:revision>1</cp:revision>
  <dcterms:created xsi:type="dcterms:W3CDTF">2026-06-23T02:56:31Z</dcterms:created>
  <dcterms:modified xsi:type="dcterms:W3CDTF">2026-06-23T02:56:31Z</dcterms:modified>
</cp:coreProperties>
</file>